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3"/>
  </p:notesMasterIdLst>
  <p:handoutMasterIdLst>
    <p:handoutMasterId r:id="rId14"/>
  </p:handoutMasterIdLst>
  <p:sldIdLst>
    <p:sldId id="256" r:id="rId5"/>
    <p:sldId id="262" r:id="rId6"/>
    <p:sldId id="259" r:id="rId7"/>
    <p:sldId id="263" r:id="rId8"/>
    <p:sldId id="258" r:id="rId9"/>
    <p:sldId id="269" r:id="rId10"/>
    <p:sldId id="267" r:id="rId11"/>
    <p:sldId id="26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66" d="100"/>
          <a:sy n="66" d="100"/>
        </p:scale>
        <p:origin x="668"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6750AC01-D39D-4F3A-9DC8-2A211EE986A2}">
      <dgm:prSet phldrT="[Text]"/>
      <dgm:spPr/>
      <dgm:t>
        <a:bodyPr/>
        <a:lstStyle/>
        <a:p>
          <a:pPr>
            <a:lnSpc>
              <a:spcPct val="100000"/>
            </a:lnSpc>
          </a:pPr>
          <a:r>
            <a:rPr lang="en-US" dirty="0"/>
            <a:t>Define the question	</a:t>
          </a:r>
        </a:p>
      </dgm:t>
    </dgm:pt>
    <dgm:pt modelId="{720680DC-AAA4-4434-A582-60EBCC5BA355}" type="parTrans" cxnId="{0B5DAE5F-BCDC-4BF7-A6E7-CF856886A64D}">
      <dgm:prSet/>
      <dgm:spPr/>
      <dgm:t>
        <a:bodyPr/>
        <a:lstStyle/>
        <a:p>
          <a:endParaRPr lang="en-US"/>
        </a:p>
      </dgm:t>
    </dgm:pt>
    <dgm:pt modelId="{CA077D98-8478-47EA-B6A9-99ACE60C64D4}" type="sibTrans" cxnId="{0B5DAE5F-BCDC-4BF7-A6E7-CF856886A64D}">
      <dgm:prSet/>
      <dgm:spPr/>
      <dgm:t>
        <a:bodyPr/>
        <a:lstStyle/>
        <a:p>
          <a:endParaRPr lang="en-US"/>
        </a:p>
      </dgm:t>
    </dgm:pt>
    <dgm:pt modelId="{0BEF68B8-1228-47BB-83B5-7B9CD1E3F84E}">
      <dgm:prSet phldrT="[Text]"/>
      <dgm:spPr/>
      <dgm:t>
        <a:bodyPr/>
        <a:lstStyle/>
        <a:p>
          <a:pPr>
            <a:lnSpc>
              <a:spcPct val="100000"/>
            </a:lnSpc>
          </a:pPr>
          <a:r>
            <a:rPr lang="en-US" dirty="0"/>
            <a:t>Collect the data</a:t>
          </a:r>
        </a:p>
      </dgm:t>
    </dgm:pt>
    <dgm:pt modelId="{ED3A4BC2-B75A-4952-A38B-A42B5995DF05}" type="parTrans" cxnId="{EDEF4F82-1237-4639-A0F7-385C1897CE66}">
      <dgm:prSet/>
      <dgm:spPr/>
      <dgm:t>
        <a:bodyPr/>
        <a:lstStyle/>
        <a:p>
          <a:endParaRPr lang="en-US"/>
        </a:p>
      </dgm:t>
    </dgm:pt>
    <dgm:pt modelId="{FD949706-EDCC-4ADC-8EDF-8EDA49C92325}" type="sibTrans" cxnId="{EDEF4F82-1237-4639-A0F7-385C1897CE66}">
      <dgm:prSet/>
      <dgm:spPr/>
      <dgm:t>
        <a:bodyPr/>
        <a:lstStyle/>
        <a:p>
          <a:endParaRPr lang="en-US"/>
        </a:p>
      </dgm:t>
    </dgm:pt>
    <dgm:pt modelId="{5605D28D-2CE6-4513-8566-952984E21E14}">
      <dgm:prSet phldrT="[Text]"/>
      <dgm:spPr/>
      <dgm:t>
        <a:bodyPr/>
        <a:lstStyle/>
        <a:p>
          <a:pPr>
            <a:lnSpc>
              <a:spcPct val="100000"/>
            </a:lnSpc>
          </a:pPr>
          <a:r>
            <a:rPr lang="en-US" dirty="0"/>
            <a:t>Clean the data</a:t>
          </a:r>
        </a:p>
      </dgm:t>
    </dgm:pt>
    <dgm:pt modelId="{EB15AB98-362B-4E70-A3DA-995FC3E8BA79}" type="parTrans" cxnId="{FAF3F884-F0CF-440F-8CB1-B7648AB1B138}">
      <dgm:prSet/>
      <dgm:spPr/>
      <dgm:t>
        <a:bodyPr/>
        <a:lstStyle/>
        <a:p>
          <a:endParaRPr lang="en-US"/>
        </a:p>
      </dgm:t>
    </dgm:pt>
    <dgm:pt modelId="{823D1971-2C4D-4EC5-A874-2F463DE37109}" type="sibTrans" cxnId="{FAF3F884-F0CF-440F-8CB1-B7648AB1B138}">
      <dgm:prSet/>
      <dgm:spPr/>
      <dgm:t>
        <a:bodyPr/>
        <a:lstStyle/>
        <a:p>
          <a:endParaRPr lang="en-US"/>
        </a:p>
      </dgm:t>
    </dgm:pt>
    <dgm:pt modelId="{3BFE08F6-60F0-442F-A2A7-960C1240B683}">
      <dgm:prSet phldrT="[Text]"/>
      <dgm:spPr/>
      <dgm:t>
        <a:bodyPr/>
        <a:lstStyle/>
        <a:p>
          <a:pPr>
            <a:lnSpc>
              <a:spcPct val="100000"/>
            </a:lnSpc>
          </a:pPr>
          <a:r>
            <a:rPr lang="en-US" dirty="0"/>
            <a:t>Visualize share insights</a:t>
          </a:r>
        </a:p>
      </dgm:t>
    </dgm:pt>
    <dgm:pt modelId="{213AF342-D252-4C72-B54B-91660798E57A}" type="parTrans" cxnId="{FD0F03CB-FAB2-44BC-94D7-5136AE8F1B36}">
      <dgm:prSet/>
      <dgm:spPr/>
      <dgm:t>
        <a:bodyPr/>
        <a:lstStyle/>
        <a:p>
          <a:endParaRPr lang="en-IN"/>
        </a:p>
      </dgm:t>
    </dgm:pt>
    <dgm:pt modelId="{45C17854-346F-49CB-BF6C-5D6D8BEDEEC8}" type="sibTrans" cxnId="{FD0F03CB-FAB2-44BC-94D7-5136AE8F1B36}">
      <dgm:prSet/>
      <dgm:spPr/>
      <dgm:t>
        <a:bodyPr/>
        <a:lstStyle/>
        <a:p>
          <a:endParaRPr lang="en-IN"/>
        </a:p>
      </dgm:t>
    </dgm:pt>
    <dgm:pt modelId="{F6485A16-DC60-4FE0-A692-9433B5096851}">
      <dgm:prSet phldrT="[Text]"/>
      <dgm:spPr/>
      <dgm:t>
        <a:bodyPr/>
        <a:lstStyle/>
        <a:p>
          <a:pPr>
            <a:lnSpc>
              <a:spcPct val="100000"/>
            </a:lnSpc>
          </a:pPr>
          <a:r>
            <a:rPr lang="en-US" dirty="0"/>
            <a:t>Analyze the data</a:t>
          </a:r>
        </a:p>
      </dgm:t>
    </dgm:pt>
    <dgm:pt modelId="{FBB9296B-A0C6-4C2E-800A-56631F012DC6}" type="parTrans" cxnId="{98B87DEB-3797-4EC5-A1C5-5412FB18F411}">
      <dgm:prSet/>
      <dgm:spPr/>
      <dgm:t>
        <a:bodyPr/>
        <a:lstStyle/>
        <a:p>
          <a:endParaRPr lang="en-IN"/>
        </a:p>
      </dgm:t>
    </dgm:pt>
    <dgm:pt modelId="{C204E91B-B31D-486B-9FBC-B733FE49092F}" type="sibTrans" cxnId="{98B87DEB-3797-4EC5-A1C5-5412FB18F411}">
      <dgm:prSet/>
      <dgm:spPr/>
      <dgm:t>
        <a:bodyPr/>
        <a:lstStyle/>
        <a:p>
          <a:endParaRPr lang="en-IN"/>
        </a:p>
      </dgm:t>
    </dgm:pt>
    <dgm:pt modelId="{414BE2AA-329C-46CD-A119-00C84F7DD98C}">
      <dgm:prSet phldrT="[Text]"/>
      <dgm:spPr/>
      <dgm:t>
        <a:bodyPr/>
        <a:lstStyle/>
        <a:p>
          <a:pPr>
            <a:lnSpc>
              <a:spcPct val="100000"/>
            </a:lnSpc>
          </a:pPr>
          <a:r>
            <a:rPr lang="en-US" dirty="0"/>
            <a:t>Make recommendations</a:t>
          </a:r>
        </a:p>
      </dgm:t>
    </dgm:pt>
    <dgm:pt modelId="{2702774F-7F53-4E79-9268-72D135498546}" type="parTrans" cxnId="{8209B1DA-F9FE-4174-B3FB-EC147072CE21}">
      <dgm:prSet/>
      <dgm:spPr/>
      <dgm:t>
        <a:bodyPr/>
        <a:lstStyle/>
        <a:p>
          <a:endParaRPr lang="en-IN"/>
        </a:p>
      </dgm:t>
    </dgm:pt>
    <dgm:pt modelId="{9ABA3BD1-521E-45D1-A102-469EDFBDE4F7}" type="sibTrans" cxnId="{8209B1DA-F9FE-4174-B3FB-EC147072CE21}">
      <dgm:prSet/>
      <dgm:spPr/>
      <dgm:t>
        <a:bodyPr/>
        <a:lstStyle/>
        <a:p>
          <a:endParaRPr lang="en-IN"/>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6"/>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6"/>
      <dgm:spPr/>
    </dgm:pt>
    <dgm:pt modelId="{429CABD1-4116-474B-81BF-735E2CA9DD00}" type="pres">
      <dgm:prSet presAssocID="{7E5AA53B-3EEE-4DE4-BB81-9044890C2946}" presName="dstNode" presStyleLbl="node1" presStyleIdx="0" presStyleCnt="6"/>
      <dgm:spPr/>
    </dgm:pt>
    <dgm:pt modelId="{58319267-C71E-43C9-94E1-827D0616C7A7}" type="pres">
      <dgm:prSet presAssocID="{6750AC01-D39D-4F3A-9DC8-2A211EE986A2}" presName="text_1" presStyleLbl="node1" presStyleIdx="0" presStyleCnt="6">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6"/>
      <dgm:spPr/>
    </dgm:pt>
    <dgm:pt modelId="{AE282ECD-AD9E-4E7E-A46D-6AC4994CBF02}" type="pres">
      <dgm:prSet presAssocID="{0BEF68B8-1228-47BB-83B5-7B9CD1E3F84E}" presName="text_2" presStyleLbl="node1" presStyleIdx="1" presStyleCnt="6">
        <dgm:presLayoutVars>
          <dgm:bulletEnabled val="1"/>
        </dgm:presLayoutVars>
      </dgm:prSet>
      <dgm:spPr/>
    </dgm:pt>
    <dgm:pt modelId="{852288AC-784C-40B3-B6B3-3256602A86E7}"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6"/>
      <dgm:spPr/>
    </dgm:pt>
    <dgm:pt modelId="{A7E5B827-F52C-42DD-8DA7-48F108FA9C60}" type="pres">
      <dgm:prSet presAssocID="{5605D28D-2CE6-4513-8566-952984E21E14}" presName="text_3" presStyleLbl="node1" presStyleIdx="2" presStyleCnt="6">
        <dgm:presLayoutVars>
          <dgm:bulletEnabled val="1"/>
        </dgm:presLayoutVars>
      </dgm:prSet>
      <dgm:spPr/>
    </dgm:pt>
    <dgm:pt modelId="{06654AFF-FADF-4FC9-A2C0-239AA87A99A2}"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6"/>
      <dgm:spPr/>
    </dgm:pt>
    <dgm:pt modelId="{8BB480AD-BA34-48F0-8E6E-EB1CC91CA3D4}" type="pres">
      <dgm:prSet presAssocID="{F6485A16-DC60-4FE0-A692-9433B5096851}" presName="text_4" presStyleLbl="node1" presStyleIdx="3" presStyleCnt="6">
        <dgm:presLayoutVars>
          <dgm:bulletEnabled val="1"/>
        </dgm:presLayoutVars>
      </dgm:prSet>
      <dgm:spPr/>
    </dgm:pt>
    <dgm:pt modelId="{4B610E27-BF7B-4B55-92BC-AE09D6724A36}" type="pres">
      <dgm:prSet presAssocID="{F6485A16-DC60-4FE0-A692-9433B5096851}" presName="accent_4" presStyleCnt="0"/>
      <dgm:spPr/>
    </dgm:pt>
    <dgm:pt modelId="{534FE5CF-C7A8-4607-81EA-68E9C8B955EA}" type="pres">
      <dgm:prSet presAssocID="{F6485A16-DC60-4FE0-A692-9433B5096851}" presName="accentRepeatNode" presStyleLbl="solidFgAcc1" presStyleIdx="3" presStyleCnt="6"/>
      <dgm:spPr/>
    </dgm:pt>
    <dgm:pt modelId="{D379C9EE-EABA-456E-ADC6-F99A52FB5E4F}" type="pres">
      <dgm:prSet presAssocID="{3BFE08F6-60F0-442F-A2A7-960C1240B683}" presName="text_5" presStyleLbl="node1" presStyleIdx="4" presStyleCnt="6">
        <dgm:presLayoutVars>
          <dgm:bulletEnabled val="1"/>
        </dgm:presLayoutVars>
      </dgm:prSet>
      <dgm:spPr/>
    </dgm:pt>
    <dgm:pt modelId="{4C2371A5-5477-4DF5-B3BD-487929155344}" type="pres">
      <dgm:prSet presAssocID="{3BFE08F6-60F0-442F-A2A7-960C1240B683}" presName="accent_5" presStyleCnt="0"/>
      <dgm:spPr/>
    </dgm:pt>
    <dgm:pt modelId="{48A15873-6F5A-402F-A5AB-56DC63EC4B94}" type="pres">
      <dgm:prSet presAssocID="{3BFE08F6-60F0-442F-A2A7-960C1240B683}" presName="accentRepeatNode" presStyleLbl="solidFgAcc1" presStyleIdx="4" presStyleCnt="6"/>
      <dgm:spPr/>
    </dgm:pt>
    <dgm:pt modelId="{2B4C897A-DC7E-4DF1-B52D-00E3FBFBF85F}" type="pres">
      <dgm:prSet presAssocID="{414BE2AA-329C-46CD-A119-00C84F7DD98C}" presName="text_6" presStyleLbl="node1" presStyleIdx="5" presStyleCnt="6">
        <dgm:presLayoutVars>
          <dgm:bulletEnabled val="1"/>
        </dgm:presLayoutVars>
      </dgm:prSet>
      <dgm:spPr/>
    </dgm:pt>
    <dgm:pt modelId="{B9055A69-B899-4774-944A-992760BD4C70}" type="pres">
      <dgm:prSet presAssocID="{414BE2AA-329C-46CD-A119-00C84F7DD98C}" presName="accent_6" presStyleCnt="0"/>
      <dgm:spPr/>
    </dgm:pt>
    <dgm:pt modelId="{29C77C0F-96B6-4C07-8ECE-D9BBAD4939AC}" type="pres">
      <dgm:prSet presAssocID="{414BE2AA-329C-46CD-A119-00C84F7DD98C}" presName="accentRepeatNode" presStyleLbl="solidFgAcc1" presStyleIdx="5" presStyleCnt="6"/>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85CCA84A-A513-4692-ACB1-03CC750CDC27}" type="presOf" srcId="{414BE2AA-329C-46CD-A119-00C84F7DD98C}" destId="{2B4C897A-DC7E-4DF1-B52D-00E3FBFBF85F}" srcOrd="0" destOrd="0" presId="urn:microsoft.com/office/officeart/2008/layout/VerticalCurvedList"/>
    <dgm:cxn modelId="{30FBB46A-67A6-4055-92DA-64CABF5A4491}" type="presOf" srcId="{3BFE08F6-60F0-442F-A2A7-960C1240B683}" destId="{D379C9EE-EABA-456E-ADC6-F99A52FB5E4F}" srcOrd="0" destOrd="0" presId="urn:microsoft.com/office/officeart/2008/layout/VerticalCurvedList"/>
    <dgm:cxn modelId="{29DA474E-5DFA-4C66-882F-319C49ABBB19}" type="presOf" srcId="{6750AC01-D39D-4F3A-9DC8-2A211EE986A2}" destId="{58319267-C71E-43C9-94E1-827D0616C7A7}"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FD0F03CB-FAB2-44BC-94D7-5136AE8F1B36}" srcId="{7E5AA53B-3EEE-4DE4-BB81-9044890C2946}" destId="{3BFE08F6-60F0-442F-A2A7-960C1240B683}" srcOrd="4" destOrd="0" parTransId="{213AF342-D252-4C72-B54B-91660798E57A}" sibTransId="{45C17854-346F-49CB-BF6C-5D6D8BEDEEC8}"/>
    <dgm:cxn modelId="{8209B1DA-F9FE-4174-B3FB-EC147072CE21}" srcId="{7E5AA53B-3EEE-4DE4-BB81-9044890C2946}" destId="{414BE2AA-329C-46CD-A119-00C84F7DD98C}" srcOrd="5" destOrd="0" parTransId="{2702774F-7F53-4E79-9268-72D135498546}" sibTransId="{9ABA3BD1-521E-45D1-A102-469EDFBDE4F7}"/>
    <dgm:cxn modelId="{FBE272E3-9F1F-42DA-8384-9E49A99B5E3D}" type="presOf" srcId="{5605D28D-2CE6-4513-8566-952984E21E14}" destId="{A7E5B827-F52C-42DD-8DA7-48F108FA9C60}" srcOrd="0" destOrd="0" presId="urn:microsoft.com/office/officeart/2008/layout/VerticalCurvedList"/>
    <dgm:cxn modelId="{98B87DEB-3797-4EC5-A1C5-5412FB18F411}" srcId="{7E5AA53B-3EEE-4DE4-BB81-9044890C2946}" destId="{F6485A16-DC60-4FE0-A692-9433B5096851}" srcOrd="3" destOrd="0" parTransId="{FBB9296B-A0C6-4C2E-800A-56631F012DC6}" sibTransId="{C204E91B-B31D-486B-9FBC-B733FE49092F}"/>
    <dgm:cxn modelId="{C0BB3AED-F63F-4329-B594-2B1E5F403454}" type="presOf" srcId="{F6485A16-DC60-4FE0-A692-9433B5096851}" destId="{8BB480AD-BA34-48F0-8E6E-EB1CC91CA3D4}" srcOrd="0" destOrd="0" presId="urn:microsoft.com/office/officeart/2008/layout/VerticalCurvedList"/>
    <dgm:cxn modelId="{B552E8F0-3CD8-47DC-89C9-57BF866454E7}" type="presOf" srcId="{0BEF68B8-1228-47BB-83B5-7B9CD1E3F84E}" destId="{AE282ECD-AD9E-4E7E-A46D-6AC4994CBF0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E8330BA2-42DE-4490-8F86-039D077E1036}" type="presParOf" srcId="{90561C55-3C6E-4D53-85E1-2C50BCDDA392}" destId="{AE282ECD-AD9E-4E7E-A46D-6AC4994CBF02}" srcOrd="3" destOrd="0" presId="urn:microsoft.com/office/officeart/2008/layout/VerticalCurvedList"/>
    <dgm:cxn modelId="{5F58A5CA-058A-4176-A49D-2FEC1B6C2035}" type="presParOf" srcId="{90561C55-3C6E-4D53-85E1-2C50BCDDA392}" destId="{852288AC-784C-40B3-B6B3-3256602A86E7}" srcOrd="4" destOrd="0" presId="urn:microsoft.com/office/officeart/2008/layout/VerticalCurvedList"/>
    <dgm:cxn modelId="{612798E6-DE43-4900-BEB0-953D837EEBE9}" type="presParOf" srcId="{852288AC-784C-40B3-B6B3-3256602A86E7}" destId="{3F8116AC-FAC3-4E95-9865-93CCFEB191B9}" srcOrd="0" destOrd="0" presId="urn:microsoft.com/office/officeart/2008/layout/VerticalCurvedList"/>
    <dgm:cxn modelId="{F49B9CE8-F952-4AFE-912D-AAE4FCD8974C}" type="presParOf" srcId="{90561C55-3C6E-4D53-85E1-2C50BCDDA392}" destId="{A7E5B827-F52C-42DD-8DA7-48F108FA9C60}" srcOrd="5" destOrd="0" presId="urn:microsoft.com/office/officeart/2008/layout/VerticalCurvedList"/>
    <dgm:cxn modelId="{297D2619-B3BA-4B94-978E-CFEE41C13181}" type="presParOf" srcId="{90561C55-3C6E-4D53-85E1-2C50BCDDA392}" destId="{06654AFF-FADF-4FC9-A2C0-239AA87A99A2}" srcOrd="6" destOrd="0" presId="urn:microsoft.com/office/officeart/2008/layout/VerticalCurvedList"/>
    <dgm:cxn modelId="{705C37CB-522B-40F5-B3B4-7E69A79487F4}" type="presParOf" srcId="{06654AFF-FADF-4FC9-A2C0-239AA87A99A2}" destId="{A965097E-32F1-4AB8-8C4E-2814A7596B2F}" srcOrd="0" destOrd="0" presId="urn:microsoft.com/office/officeart/2008/layout/VerticalCurvedList"/>
    <dgm:cxn modelId="{4581A78F-175D-412C-907D-5C6419C8D95D}" type="presParOf" srcId="{90561C55-3C6E-4D53-85E1-2C50BCDDA392}" destId="{8BB480AD-BA34-48F0-8E6E-EB1CC91CA3D4}" srcOrd="7" destOrd="0" presId="urn:microsoft.com/office/officeart/2008/layout/VerticalCurvedList"/>
    <dgm:cxn modelId="{256135DB-232F-439D-ACEA-0E075A552D7A}" type="presParOf" srcId="{90561C55-3C6E-4D53-85E1-2C50BCDDA392}" destId="{4B610E27-BF7B-4B55-92BC-AE09D6724A36}" srcOrd="8" destOrd="0" presId="urn:microsoft.com/office/officeart/2008/layout/VerticalCurvedList"/>
    <dgm:cxn modelId="{78F3BE16-5AEB-4A5D-A818-6759E77E7CC1}" type="presParOf" srcId="{4B610E27-BF7B-4B55-92BC-AE09D6724A36}" destId="{534FE5CF-C7A8-4607-81EA-68E9C8B955EA}" srcOrd="0" destOrd="0" presId="urn:microsoft.com/office/officeart/2008/layout/VerticalCurvedList"/>
    <dgm:cxn modelId="{7A0968CF-FE2E-4957-A7FF-23D826F1CC09}" type="presParOf" srcId="{90561C55-3C6E-4D53-85E1-2C50BCDDA392}" destId="{D379C9EE-EABA-456E-ADC6-F99A52FB5E4F}" srcOrd="9" destOrd="0" presId="urn:microsoft.com/office/officeart/2008/layout/VerticalCurvedList"/>
    <dgm:cxn modelId="{90D160A3-D9E2-40E0-81FB-F5F0B04AD6F6}" type="presParOf" srcId="{90561C55-3C6E-4D53-85E1-2C50BCDDA392}" destId="{4C2371A5-5477-4DF5-B3BD-487929155344}" srcOrd="10" destOrd="0" presId="urn:microsoft.com/office/officeart/2008/layout/VerticalCurvedList"/>
    <dgm:cxn modelId="{1E95C87B-A7D4-4604-A4A6-4F2C11D4A0CF}" type="presParOf" srcId="{4C2371A5-5477-4DF5-B3BD-487929155344}" destId="{48A15873-6F5A-402F-A5AB-56DC63EC4B94}" srcOrd="0" destOrd="0" presId="urn:microsoft.com/office/officeart/2008/layout/VerticalCurvedList"/>
    <dgm:cxn modelId="{296EB80A-D84A-44D1-A5B1-0264F4892F9B}" type="presParOf" srcId="{90561C55-3C6E-4D53-85E1-2C50BCDDA392}" destId="{2B4C897A-DC7E-4DF1-B52D-00E3FBFBF85F}" srcOrd="11" destOrd="0" presId="urn:microsoft.com/office/officeart/2008/layout/VerticalCurvedList"/>
    <dgm:cxn modelId="{0E619533-A01E-4C1D-87BB-CA6A7CD696F9}" type="presParOf" srcId="{90561C55-3C6E-4D53-85E1-2C50BCDDA392}" destId="{B9055A69-B899-4774-944A-992760BD4C70}" srcOrd="12" destOrd="0" presId="urn:microsoft.com/office/officeart/2008/layout/VerticalCurvedList"/>
    <dgm:cxn modelId="{2A41A3D9-6747-4280-868D-0AFDDF6FEE24}" type="presParOf" srcId="{B9055A69-B899-4774-944A-992760BD4C70}" destId="{29C77C0F-96B6-4C07-8ECE-D9BBAD4939AC}"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5267087" y="-806684"/>
          <a:ext cx="6271996" cy="6271996"/>
        </a:xfrm>
        <a:prstGeom prst="blockArc">
          <a:avLst>
            <a:gd name="adj1" fmla="val 18900000"/>
            <a:gd name="adj2" fmla="val 2700000"/>
            <a:gd name="adj3" fmla="val 344"/>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374730" y="245323"/>
          <a:ext cx="6541331" cy="49046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9303" tIns="60960" rIns="60960" bIns="60960" numCol="1" spcCol="1270" anchor="ctr" anchorCtr="0">
          <a:noAutofit/>
        </a:bodyPr>
        <a:lstStyle/>
        <a:p>
          <a:pPr marL="0" lvl="0" indent="0" algn="l" defTabSz="1066800">
            <a:lnSpc>
              <a:spcPct val="100000"/>
            </a:lnSpc>
            <a:spcBef>
              <a:spcPct val="0"/>
            </a:spcBef>
            <a:spcAft>
              <a:spcPct val="35000"/>
            </a:spcAft>
            <a:buNone/>
          </a:pPr>
          <a:r>
            <a:rPr lang="en-US" sz="2400" kern="1200" dirty="0"/>
            <a:t>Define the question	</a:t>
          </a:r>
        </a:p>
      </dsp:txBody>
      <dsp:txXfrm>
        <a:off x="374730" y="245323"/>
        <a:ext cx="6541331" cy="490460"/>
      </dsp:txXfrm>
    </dsp:sp>
    <dsp:sp modelId="{07CB3071-D555-47DA-A36A-69EB91531FD8}">
      <dsp:nvSpPr>
        <dsp:cNvPr id="0" name=""/>
        <dsp:cNvSpPr/>
      </dsp:nvSpPr>
      <dsp:spPr>
        <a:xfrm>
          <a:off x="68192" y="184015"/>
          <a:ext cx="613075" cy="61307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E282ECD-AD9E-4E7E-A46D-6AC4994CBF02}">
      <dsp:nvSpPr>
        <dsp:cNvPr id="0" name=""/>
        <dsp:cNvSpPr/>
      </dsp:nvSpPr>
      <dsp:spPr>
        <a:xfrm>
          <a:off x="778167" y="980920"/>
          <a:ext cx="6137894" cy="49046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9303" tIns="60960" rIns="60960" bIns="60960" numCol="1" spcCol="1270" anchor="ctr" anchorCtr="0">
          <a:noAutofit/>
        </a:bodyPr>
        <a:lstStyle/>
        <a:p>
          <a:pPr marL="0" lvl="0" indent="0" algn="l" defTabSz="1066800">
            <a:lnSpc>
              <a:spcPct val="100000"/>
            </a:lnSpc>
            <a:spcBef>
              <a:spcPct val="0"/>
            </a:spcBef>
            <a:spcAft>
              <a:spcPct val="35000"/>
            </a:spcAft>
            <a:buNone/>
          </a:pPr>
          <a:r>
            <a:rPr lang="en-US" sz="2400" kern="1200" dirty="0"/>
            <a:t>Collect the data</a:t>
          </a:r>
        </a:p>
      </dsp:txBody>
      <dsp:txXfrm>
        <a:off x="778167" y="980920"/>
        <a:ext cx="6137894" cy="490460"/>
      </dsp:txXfrm>
    </dsp:sp>
    <dsp:sp modelId="{3F8116AC-FAC3-4E95-9865-93CCFEB191B9}">
      <dsp:nvSpPr>
        <dsp:cNvPr id="0" name=""/>
        <dsp:cNvSpPr/>
      </dsp:nvSpPr>
      <dsp:spPr>
        <a:xfrm>
          <a:off x="471629" y="919613"/>
          <a:ext cx="613075" cy="61307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7E5B827-F52C-42DD-8DA7-48F108FA9C60}">
      <dsp:nvSpPr>
        <dsp:cNvPr id="0" name=""/>
        <dsp:cNvSpPr/>
      </dsp:nvSpPr>
      <dsp:spPr>
        <a:xfrm>
          <a:off x="962649" y="1716518"/>
          <a:ext cx="5953412" cy="49046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9303" tIns="60960" rIns="60960" bIns="60960" numCol="1" spcCol="1270" anchor="ctr" anchorCtr="0">
          <a:noAutofit/>
        </a:bodyPr>
        <a:lstStyle/>
        <a:p>
          <a:pPr marL="0" lvl="0" indent="0" algn="l" defTabSz="1066800">
            <a:lnSpc>
              <a:spcPct val="100000"/>
            </a:lnSpc>
            <a:spcBef>
              <a:spcPct val="0"/>
            </a:spcBef>
            <a:spcAft>
              <a:spcPct val="35000"/>
            </a:spcAft>
            <a:buNone/>
          </a:pPr>
          <a:r>
            <a:rPr lang="en-US" sz="2400" kern="1200" dirty="0"/>
            <a:t>Clean the data</a:t>
          </a:r>
        </a:p>
      </dsp:txBody>
      <dsp:txXfrm>
        <a:off x="962649" y="1716518"/>
        <a:ext cx="5953412" cy="490460"/>
      </dsp:txXfrm>
    </dsp:sp>
    <dsp:sp modelId="{A965097E-32F1-4AB8-8C4E-2814A7596B2F}">
      <dsp:nvSpPr>
        <dsp:cNvPr id="0" name=""/>
        <dsp:cNvSpPr/>
      </dsp:nvSpPr>
      <dsp:spPr>
        <a:xfrm>
          <a:off x="656111" y="1655210"/>
          <a:ext cx="613075" cy="61307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BB480AD-BA34-48F0-8E6E-EB1CC91CA3D4}">
      <dsp:nvSpPr>
        <dsp:cNvPr id="0" name=""/>
        <dsp:cNvSpPr/>
      </dsp:nvSpPr>
      <dsp:spPr>
        <a:xfrm>
          <a:off x="962649" y="2451649"/>
          <a:ext cx="5953412" cy="49046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9303" tIns="60960" rIns="60960" bIns="60960" numCol="1" spcCol="1270" anchor="ctr" anchorCtr="0">
          <a:noAutofit/>
        </a:bodyPr>
        <a:lstStyle/>
        <a:p>
          <a:pPr marL="0" lvl="0" indent="0" algn="l" defTabSz="1066800">
            <a:lnSpc>
              <a:spcPct val="100000"/>
            </a:lnSpc>
            <a:spcBef>
              <a:spcPct val="0"/>
            </a:spcBef>
            <a:spcAft>
              <a:spcPct val="35000"/>
            </a:spcAft>
            <a:buNone/>
          </a:pPr>
          <a:r>
            <a:rPr lang="en-US" sz="2400" kern="1200" dirty="0"/>
            <a:t>Analyze the data</a:t>
          </a:r>
        </a:p>
      </dsp:txBody>
      <dsp:txXfrm>
        <a:off x="962649" y="2451649"/>
        <a:ext cx="5953412" cy="490460"/>
      </dsp:txXfrm>
    </dsp:sp>
    <dsp:sp modelId="{534FE5CF-C7A8-4607-81EA-68E9C8B955EA}">
      <dsp:nvSpPr>
        <dsp:cNvPr id="0" name=""/>
        <dsp:cNvSpPr/>
      </dsp:nvSpPr>
      <dsp:spPr>
        <a:xfrm>
          <a:off x="656111" y="2390342"/>
          <a:ext cx="613075" cy="61307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379C9EE-EABA-456E-ADC6-F99A52FB5E4F}">
      <dsp:nvSpPr>
        <dsp:cNvPr id="0" name=""/>
        <dsp:cNvSpPr/>
      </dsp:nvSpPr>
      <dsp:spPr>
        <a:xfrm>
          <a:off x="778167" y="3187246"/>
          <a:ext cx="6137894" cy="49046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9303" tIns="60960" rIns="60960" bIns="60960" numCol="1" spcCol="1270" anchor="ctr" anchorCtr="0">
          <a:noAutofit/>
        </a:bodyPr>
        <a:lstStyle/>
        <a:p>
          <a:pPr marL="0" lvl="0" indent="0" algn="l" defTabSz="1066800">
            <a:lnSpc>
              <a:spcPct val="100000"/>
            </a:lnSpc>
            <a:spcBef>
              <a:spcPct val="0"/>
            </a:spcBef>
            <a:spcAft>
              <a:spcPct val="35000"/>
            </a:spcAft>
            <a:buNone/>
          </a:pPr>
          <a:r>
            <a:rPr lang="en-US" sz="2400" kern="1200" dirty="0"/>
            <a:t>Visualize share insights</a:t>
          </a:r>
        </a:p>
      </dsp:txBody>
      <dsp:txXfrm>
        <a:off x="778167" y="3187246"/>
        <a:ext cx="6137894" cy="490460"/>
      </dsp:txXfrm>
    </dsp:sp>
    <dsp:sp modelId="{48A15873-6F5A-402F-A5AB-56DC63EC4B94}">
      <dsp:nvSpPr>
        <dsp:cNvPr id="0" name=""/>
        <dsp:cNvSpPr/>
      </dsp:nvSpPr>
      <dsp:spPr>
        <a:xfrm>
          <a:off x="471629" y="3125939"/>
          <a:ext cx="613075" cy="61307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B4C897A-DC7E-4DF1-B52D-00E3FBFBF85F}">
      <dsp:nvSpPr>
        <dsp:cNvPr id="0" name=""/>
        <dsp:cNvSpPr/>
      </dsp:nvSpPr>
      <dsp:spPr>
        <a:xfrm>
          <a:off x="374730" y="3922844"/>
          <a:ext cx="6541331" cy="49046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9303" tIns="60960" rIns="60960" bIns="60960" numCol="1" spcCol="1270" anchor="ctr" anchorCtr="0">
          <a:noAutofit/>
        </a:bodyPr>
        <a:lstStyle/>
        <a:p>
          <a:pPr marL="0" lvl="0" indent="0" algn="l" defTabSz="1066800">
            <a:lnSpc>
              <a:spcPct val="100000"/>
            </a:lnSpc>
            <a:spcBef>
              <a:spcPct val="0"/>
            </a:spcBef>
            <a:spcAft>
              <a:spcPct val="35000"/>
            </a:spcAft>
            <a:buNone/>
          </a:pPr>
          <a:r>
            <a:rPr lang="en-US" sz="2400" kern="1200" dirty="0"/>
            <a:t>Make recommendations</a:t>
          </a:r>
        </a:p>
      </dsp:txBody>
      <dsp:txXfrm>
        <a:off x="374730" y="3922844"/>
        <a:ext cx="6541331" cy="490460"/>
      </dsp:txXfrm>
    </dsp:sp>
    <dsp:sp modelId="{29C77C0F-96B6-4C07-8ECE-D9BBAD4939AC}">
      <dsp:nvSpPr>
        <dsp:cNvPr id="0" name=""/>
        <dsp:cNvSpPr/>
      </dsp:nvSpPr>
      <dsp:spPr>
        <a:xfrm>
          <a:off x="68192" y="3861536"/>
          <a:ext cx="613075" cy="61307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9/15/2023</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9/15/2023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9/15/2023</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9/15/2023</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9/15/2023</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9/15/2023</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9/15/2023</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379066" y="4437250"/>
            <a:ext cx="12480291" cy="895244"/>
          </a:xfrm>
        </p:spPr>
        <p:txBody>
          <a:bodyPr>
            <a:noAutofit/>
          </a:bodyPr>
          <a:lstStyle/>
          <a:p>
            <a:r>
              <a:rPr lang="en-US" sz="3450" i="0" dirty="0">
                <a:solidFill>
                  <a:schemeClr val="bg1">
                    <a:lumMod val="95000"/>
                  </a:schemeClr>
                </a:solidFill>
                <a:effectLst/>
                <a:latin typeface="Söhne"/>
              </a:rPr>
              <a:t>Data Analytics process: A Real-Life Scenario Case Study</a:t>
            </a:r>
            <a:endParaRPr lang="en-US" sz="3450" dirty="0">
              <a:solidFill>
                <a:schemeClr val="bg1">
                  <a:lumMod val="95000"/>
                </a:schemeClr>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Used by police / crime branch / </a:t>
            </a:r>
            <a:r>
              <a:rPr lang="en-US" dirty="0" err="1">
                <a:solidFill>
                  <a:srgbClr val="7CEBFF"/>
                </a:solidFill>
              </a:rPr>
              <a:t>cid</a:t>
            </a:r>
            <a:endParaRPr lang="en-US" dirty="0">
              <a:solidFill>
                <a:srgbClr val="7CEBFF"/>
              </a:solidFill>
            </a:endParaRPr>
          </a:p>
        </p:txBody>
      </p:sp>
      <p:sp>
        <p:nvSpPr>
          <p:cNvPr id="4" name="Subtitle 2">
            <a:extLst>
              <a:ext uri="{FF2B5EF4-FFF2-40B4-BE49-F238E27FC236}">
                <a16:creationId xmlns:a16="http://schemas.microsoft.com/office/drawing/2014/main" id="{E8BC9BF4-FB56-082A-F323-FFE165B7DDB4}"/>
              </a:ext>
            </a:extLst>
          </p:cNvPr>
          <p:cNvSpPr txBox="1">
            <a:spLocks/>
          </p:cNvSpPr>
          <p:nvPr/>
        </p:nvSpPr>
        <p:spPr>
          <a:xfrm>
            <a:off x="9340205" y="5882579"/>
            <a:ext cx="4019685" cy="484822"/>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dirty="0">
                <a:solidFill>
                  <a:srgbClr val="7CEBFF"/>
                </a:solidFill>
              </a:rPr>
              <a:t>- by </a:t>
            </a:r>
            <a:r>
              <a:rPr lang="en-US" dirty="0" err="1">
                <a:solidFill>
                  <a:srgbClr val="7CEBFF"/>
                </a:solidFill>
              </a:rPr>
              <a:t>hitisha</a:t>
            </a:r>
            <a:r>
              <a:rPr lang="en-US" dirty="0">
                <a:solidFill>
                  <a:srgbClr val="7CEBFF"/>
                </a:solidFill>
              </a:rPr>
              <a:t> </a:t>
            </a:r>
            <a:r>
              <a:rPr lang="en-US" dirty="0" err="1">
                <a:solidFill>
                  <a:srgbClr val="7CEBFF"/>
                </a:solidFill>
              </a:rPr>
              <a:t>soni</a:t>
            </a:r>
            <a:endParaRPr lang="en-U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51E9-FD21-0E85-DE8C-31665C959878}"/>
              </a:ext>
            </a:extLst>
          </p:cNvPr>
          <p:cNvSpPr>
            <a:spLocks noGrp="1"/>
          </p:cNvSpPr>
          <p:nvPr>
            <p:ph type="title"/>
          </p:nvPr>
        </p:nvSpPr>
        <p:spPr/>
        <p:txBody>
          <a:bodyPr/>
          <a:lstStyle/>
          <a:p>
            <a:r>
              <a:rPr lang="en-US" dirty="0"/>
              <a:t>INTRODUCTION : DATA ANALYTICS</a:t>
            </a:r>
            <a:endParaRPr lang="en-IN" dirty="0"/>
          </a:p>
        </p:txBody>
      </p:sp>
      <p:sp>
        <p:nvSpPr>
          <p:cNvPr id="3" name="Content Placeholder 2">
            <a:extLst>
              <a:ext uri="{FF2B5EF4-FFF2-40B4-BE49-F238E27FC236}">
                <a16:creationId xmlns:a16="http://schemas.microsoft.com/office/drawing/2014/main" id="{A0613C4A-EA2C-7486-8C0B-20B8B29DF789}"/>
              </a:ext>
            </a:extLst>
          </p:cNvPr>
          <p:cNvSpPr>
            <a:spLocks noGrp="1"/>
          </p:cNvSpPr>
          <p:nvPr>
            <p:ph idx="1"/>
          </p:nvPr>
        </p:nvSpPr>
        <p:spPr>
          <a:xfrm>
            <a:off x="494566" y="2257498"/>
            <a:ext cx="7070891" cy="3678303"/>
          </a:xfrm>
        </p:spPr>
        <p:txBody>
          <a:bodyPr>
            <a:normAutofit/>
          </a:bodyPr>
          <a:lstStyle/>
          <a:p>
            <a:r>
              <a:rPr lang="en-US" sz="2400" dirty="0"/>
              <a:t>Data analytics is the science of analyzing raw data to make conclusions about that information.</a:t>
            </a:r>
          </a:p>
          <a:p>
            <a:r>
              <a:rPr lang="en-US" sz="2400" dirty="0"/>
              <a:t>It involves using various tools and methods to identify patterns trends and relationships within the data that can help organization make informed decisions.</a:t>
            </a:r>
            <a:endParaRPr lang="en-IN" sz="2400" dirty="0"/>
          </a:p>
        </p:txBody>
      </p:sp>
      <p:pic>
        <p:nvPicPr>
          <p:cNvPr id="4" name="Content Placeholder 4" descr="Charts">
            <a:extLst>
              <a:ext uri="{FF2B5EF4-FFF2-40B4-BE49-F238E27FC236}">
                <a16:creationId xmlns:a16="http://schemas.microsoft.com/office/drawing/2014/main" id="{9C0EEA25-8DAA-C921-D7C8-78FF8EE7E40A}"/>
              </a:ext>
            </a:extLst>
          </p:cNvPr>
          <p:cNvPicPr>
            <a:picLocks noChangeAspect="1"/>
          </p:cNvPicPr>
          <p:nvPr/>
        </p:nvPicPr>
        <p:blipFill rotWithShape="1">
          <a:blip r:embed="rId2" cstate="screen">
            <a:extLst>
              <a:ext uri="{28A0092B-C50C-407E-A947-70E740481C1C}">
                <a14:useLocalDpi xmlns:a14="http://schemas.microsoft.com/office/drawing/2010/main"/>
              </a:ext>
            </a:extLst>
          </a:blip>
          <a:stretch/>
        </p:blipFill>
        <p:spPr>
          <a:xfrm>
            <a:off x="7480372" y="2607616"/>
            <a:ext cx="4454669" cy="2978065"/>
          </a:xfrm>
          <a:prstGeom prst="rect">
            <a:avLst/>
          </a:prstGeom>
        </p:spPr>
      </p:pic>
    </p:spTree>
    <p:extLst>
      <p:ext uri="{BB962C8B-B14F-4D97-AF65-F5344CB8AC3E}">
        <p14:creationId xmlns:p14="http://schemas.microsoft.com/office/powerpoint/2010/main" val="815490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500" y="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410192"/>
            <a:ext cx="7213600" cy="1121871"/>
          </a:xfrm>
        </p:spPr>
        <p:txBody>
          <a:bodyPr anchor="ctr">
            <a:normAutofit/>
          </a:bodyPr>
          <a:lstStyle/>
          <a:p>
            <a:pPr algn="ctr"/>
            <a:r>
              <a:rPr lang="en-US" dirty="0"/>
              <a:t>Data analytics process</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3651952082"/>
              </p:ext>
            </p:extLst>
          </p:nvPr>
        </p:nvGraphicFramePr>
        <p:xfrm>
          <a:off x="719571" y="1405288"/>
          <a:ext cx="6980640" cy="46586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50FA-1C96-989E-78EE-52A9425A3499}"/>
              </a:ext>
            </a:extLst>
          </p:cNvPr>
          <p:cNvSpPr>
            <a:spLocks noGrp="1"/>
          </p:cNvSpPr>
          <p:nvPr>
            <p:ph type="title"/>
          </p:nvPr>
        </p:nvSpPr>
        <p:spPr/>
        <p:txBody>
          <a:bodyPr/>
          <a:lstStyle/>
          <a:p>
            <a:r>
              <a:rPr lang="en-US" dirty="0"/>
              <a:t>Define the question (plan ):</a:t>
            </a:r>
            <a:endParaRPr lang="en-IN" dirty="0"/>
          </a:p>
        </p:txBody>
      </p:sp>
      <p:sp>
        <p:nvSpPr>
          <p:cNvPr id="3" name="Content Placeholder 2">
            <a:extLst>
              <a:ext uri="{FF2B5EF4-FFF2-40B4-BE49-F238E27FC236}">
                <a16:creationId xmlns:a16="http://schemas.microsoft.com/office/drawing/2014/main" id="{5BE8C994-C8B3-0F4E-2996-708D052BEED2}"/>
              </a:ext>
            </a:extLst>
          </p:cNvPr>
          <p:cNvSpPr>
            <a:spLocks noGrp="1"/>
          </p:cNvSpPr>
          <p:nvPr>
            <p:ph idx="1"/>
          </p:nvPr>
        </p:nvSpPr>
        <p:spPr/>
        <p:txBody>
          <a:bodyPr>
            <a:normAutofit/>
          </a:bodyPr>
          <a:lstStyle/>
          <a:p>
            <a:r>
              <a:rPr lang="en-US" sz="2400" b="0" i="0" dirty="0">
                <a:solidFill>
                  <a:srgbClr val="374151"/>
                </a:solidFill>
                <a:effectLst/>
                <a:latin typeface="Söhne"/>
              </a:rPr>
              <a:t>Police, Crime Branches (CID) uses data analytics in various ways to help and aid in their efforts to find, punish and apprehend criminals.</a:t>
            </a:r>
          </a:p>
          <a:p>
            <a:r>
              <a:rPr lang="en-US" sz="2400" dirty="0">
                <a:solidFill>
                  <a:srgbClr val="374151"/>
                </a:solidFill>
                <a:latin typeface="Söhne"/>
              </a:rPr>
              <a:t>Here, the questions is…How Data analytics is used for finding criminals?</a:t>
            </a:r>
          </a:p>
          <a:p>
            <a:r>
              <a:rPr lang="en-US" sz="2400" dirty="0">
                <a:solidFill>
                  <a:srgbClr val="374151"/>
                </a:solidFill>
                <a:latin typeface="Söhne"/>
              </a:rPr>
              <a:t>Let’s suppose there is a murder and robbery happened in one house, Now case registered at police station.</a:t>
            </a:r>
          </a:p>
          <a:p>
            <a:r>
              <a:rPr lang="en-US" sz="2400" dirty="0">
                <a:solidFill>
                  <a:srgbClr val="374151"/>
                </a:solidFill>
                <a:latin typeface="Söhne"/>
              </a:rPr>
              <a:t>Now as per methodology, police will understand at what place the house is, what are the people of that house doing when this all is happening, at what time and all the basic understanding.</a:t>
            </a:r>
            <a:endParaRPr lang="en-IN" sz="2400" dirty="0"/>
          </a:p>
        </p:txBody>
      </p:sp>
    </p:spTree>
    <p:extLst>
      <p:ext uri="{BB962C8B-B14F-4D97-AF65-F5344CB8AC3E}">
        <p14:creationId xmlns:p14="http://schemas.microsoft.com/office/powerpoint/2010/main" val="3876858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a:t>    Collect  the  data                            clean  the  data</a:t>
            </a:r>
            <a:br>
              <a:rPr lang="en-US" dirty="0"/>
            </a:br>
            <a:r>
              <a:rPr lang="en-US" dirty="0"/>
              <a:t>           (prepare)	:							         		(process) :</a:t>
            </a:r>
          </a:p>
        </p:txBody>
      </p:sp>
      <p:sp>
        <p:nvSpPr>
          <p:cNvPr id="4" name="Content Placeholder 3">
            <a:extLst>
              <a:ext uri="{FF2B5EF4-FFF2-40B4-BE49-F238E27FC236}">
                <a16:creationId xmlns:a16="http://schemas.microsoft.com/office/drawing/2014/main" id="{E145137B-D157-C171-6843-FDE522A9234D}"/>
              </a:ext>
            </a:extLst>
          </p:cNvPr>
          <p:cNvSpPr>
            <a:spLocks noGrp="1"/>
          </p:cNvSpPr>
          <p:nvPr>
            <p:ph sz="half" idx="1"/>
          </p:nvPr>
        </p:nvSpPr>
        <p:spPr>
          <a:xfrm>
            <a:off x="581193" y="2690015"/>
            <a:ext cx="5422390" cy="3633047"/>
          </a:xfrm>
        </p:spPr>
        <p:txBody>
          <a:bodyPr/>
          <a:lstStyle/>
          <a:p>
            <a:r>
              <a:rPr lang="en-US" dirty="0"/>
              <a:t>Now, they will start collecting all the information</a:t>
            </a:r>
          </a:p>
          <a:p>
            <a:r>
              <a:rPr lang="en-IN" dirty="0"/>
              <a:t>What things/ money are gone, how much money was there</a:t>
            </a:r>
          </a:p>
          <a:p>
            <a:r>
              <a:rPr lang="en-IN" dirty="0"/>
              <a:t>Who was the person which was found died, how was his behaviour, nature, etc.</a:t>
            </a:r>
          </a:p>
          <a:p>
            <a:r>
              <a:rPr lang="en-IN" dirty="0"/>
              <a:t>They will ask neighbours some questions, like they have seen something or not</a:t>
            </a:r>
          </a:p>
          <a:p>
            <a:r>
              <a:rPr lang="en-IN" dirty="0"/>
              <a:t>Is murder happened only because of money or there is a chance like criminal just want to  murder but to twist the case he rubbered too</a:t>
            </a:r>
          </a:p>
          <a:p>
            <a:endParaRPr lang="en-IN" dirty="0"/>
          </a:p>
          <a:p>
            <a:endParaRPr lang="en-IN" dirty="0"/>
          </a:p>
        </p:txBody>
      </p:sp>
      <p:sp>
        <p:nvSpPr>
          <p:cNvPr id="6" name="Content Placeholder 5">
            <a:extLst>
              <a:ext uri="{FF2B5EF4-FFF2-40B4-BE49-F238E27FC236}">
                <a16:creationId xmlns:a16="http://schemas.microsoft.com/office/drawing/2014/main" id="{B62A1BF3-AAE3-73F3-A974-135390D31813}"/>
              </a:ext>
            </a:extLst>
          </p:cNvPr>
          <p:cNvSpPr>
            <a:spLocks noGrp="1"/>
          </p:cNvSpPr>
          <p:nvPr>
            <p:ph sz="half" idx="2"/>
          </p:nvPr>
        </p:nvSpPr>
        <p:spPr/>
        <p:txBody>
          <a:bodyPr/>
          <a:lstStyle/>
          <a:p>
            <a:r>
              <a:rPr lang="en-US" dirty="0"/>
              <a:t>After getting all the information, they will filter the information in many aspects</a:t>
            </a:r>
          </a:p>
          <a:p>
            <a:r>
              <a:rPr lang="en-US" dirty="0"/>
              <a:t>Like time, relevant information only, etc.</a:t>
            </a:r>
          </a:p>
          <a:p>
            <a:r>
              <a:rPr lang="en-US" dirty="0"/>
              <a:t>They will only take the information which is necessary for this case </a:t>
            </a:r>
          </a:p>
          <a:p>
            <a:r>
              <a:rPr lang="en-US" dirty="0"/>
              <a:t>Like Phone numbers, location of each and every person involved , etc.</a:t>
            </a:r>
          </a:p>
          <a:p>
            <a:r>
              <a:rPr lang="en-US" dirty="0"/>
              <a:t>And produce final information</a:t>
            </a:r>
          </a:p>
          <a:p>
            <a:endParaRPr lang="en-IN" dirty="0"/>
          </a:p>
        </p:txBody>
      </p:sp>
    </p:spTree>
    <p:extLst>
      <p:ext uri="{BB962C8B-B14F-4D97-AF65-F5344CB8AC3E}">
        <p14:creationId xmlns:p14="http://schemas.microsoft.com/office/powerpoint/2010/main" val="49760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DEDBF-60B3-F0E0-32F2-3F1B5F678017}"/>
              </a:ext>
            </a:extLst>
          </p:cNvPr>
          <p:cNvSpPr>
            <a:spLocks noGrp="1"/>
          </p:cNvSpPr>
          <p:nvPr>
            <p:ph sz="half" idx="1"/>
          </p:nvPr>
        </p:nvSpPr>
        <p:spPr>
          <a:xfrm>
            <a:off x="581193" y="2228003"/>
            <a:ext cx="5422390" cy="4374928"/>
          </a:xfrm>
        </p:spPr>
        <p:txBody>
          <a:bodyPr>
            <a:normAutofit fontScale="55000" lnSpcReduction="20000"/>
          </a:bodyPr>
          <a:lstStyle/>
          <a:p>
            <a:pPr marL="285750" indent="-285750">
              <a:lnSpc>
                <a:spcPct val="120000"/>
              </a:lnSpc>
              <a:buFont typeface="Arial" panose="020B0604020202020204" pitchFamily="34" charset="0"/>
              <a:buChar char="•"/>
            </a:pPr>
            <a:r>
              <a:rPr lang="en-IN" sz="3300" b="0" i="0" dirty="0">
                <a:solidFill>
                  <a:schemeClr val="tx1"/>
                </a:solidFill>
                <a:effectLst/>
              </a:rPr>
              <a:t>Descriptive : after getting the relevant information they will find out is there any pattern in this case which was happened before like linking crimes and recognize patterns.</a:t>
            </a:r>
          </a:p>
          <a:p>
            <a:pPr marL="285750" indent="-285750">
              <a:lnSpc>
                <a:spcPct val="120000"/>
              </a:lnSpc>
              <a:buFont typeface="Arial" panose="020B0604020202020204" pitchFamily="34" charset="0"/>
              <a:buChar char="•"/>
            </a:pPr>
            <a:r>
              <a:rPr lang="en-IN" sz="3300" dirty="0">
                <a:solidFill>
                  <a:schemeClr val="tx1"/>
                </a:solidFill>
              </a:rPr>
              <a:t>Diagnostic : why this happened , causes and recent crime trend analysis and there’s a chance for only murder like that</a:t>
            </a:r>
          </a:p>
          <a:p>
            <a:pPr marL="285750" indent="-285750">
              <a:lnSpc>
                <a:spcPct val="120000"/>
              </a:lnSpc>
              <a:buFont typeface="Arial" panose="020B0604020202020204" pitchFamily="34" charset="0"/>
              <a:buChar char="•"/>
            </a:pPr>
            <a:r>
              <a:rPr lang="en-IN" sz="3300" b="0" i="0" dirty="0">
                <a:solidFill>
                  <a:schemeClr val="tx1"/>
                </a:solidFill>
                <a:effectLst/>
              </a:rPr>
              <a:t>Predictive : by linking crimes, they can predict the criminal and also </a:t>
            </a:r>
            <a:r>
              <a:rPr lang="en-US" sz="3300" b="0" i="0" dirty="0">
                <a:solidFill>
                  <a:schemeClr val="tx1"/>
                </a:solidFill>
                <a:effectLst/>
              </a:rPr>
              <a:t>where and when future crimes are likely to occur and police can quickly responds to these incidents</a:t>
            </a:r>
            <a:endParaRPr lang="en-IN" sz="3300" b="0" i="0" dirty="0">
              <a:solidFill>
                <a:schemeClr val="tx1"/>
              </a:solidFill>
              <a:effectLst/>
            </a:endParaRPr>
          </a:p>
          <a:p>
            <a:pPr marL="285750" indent="-285750">
              <a:lnSpc>
                <a:spcPct val="120000"/>
              </a:lnSpc>
              <a:buFont typeface="Arial" panose="020B0604020202020204" pitchFamily="34" charset="0"/>
              <a:buChar char="•"/>
            </a:pPr>
            <a:r>
              <a:rPr lang="en-IN" sz="3300" dirty="0">
                <a:solidFill>
                  <a:schemeClr val="tx1"/>
                </a:solidFill>
              </a:rPr>
              <a:t>Prescriptive : after getting all information they can find the criminal</a:t>
            </a:r>
            <a:endParaRPr lang="en-IN" sz="3300" b="0" i="0" dirty="0">
              <a:solidFill>
                <a:schemeClr val="tx1"/>
              </a:solidFill>
              <a:effectLst/>
            </a:endParaRPr>
          </a:p>
          <a:p>
            <a:endParaRPr lang="en-IN" dirty="0"/>
          </a:p>
        </p:txBody>
      </p:sp>
      <p:sp>
        <p:nvSpPr>
          <p:cNvPr id="4" name="Content Placeholder 3">
            <a:extLst>
              <a:ext uri="{FF2B5EF4-FFF2-40B4-BE49-F238E27FC236}">
                <a16:creationId xmlns:a16="http://schemas.microsoft.com/office/drawing/2014/main" id="{5086E68B-11FC-BB24-0394-007C90BAAF02}"/>
              </a:ext>
            </a:extLst>
          </p:cNvPr>
          <p:cNvSpPr>
            <a:spLocks noGrp="1"/>
          </p:cNvSpPr>
          <p:nvPr>
            <p:ph sz="half" idx="2"/>
          </p:nvPr>
        </p:nvSpPr>
        <p:spPr>
          <a:xfrm>
            <a:off x="6188415" y="1717990"/>
            <a:ext cx="5422392" cy="3633047"/>
          </a:xfrm>
        </p:spPr>
        <p:txBody>
          <a:bodyPr>
            <a:normAutofit fontScale="55000" lnSpcReduction="20000"/>
          </a:bodyPr>
          <a:lstStyle/>
          <a:p>
            <a:pPr marL="285750" indent="-285750">
              <a:buFont typeface="Arial" panose="020B0604020202020204" pitchFamily="34" charset="0"/>
              <a:buChar char="•"/>
            </a:pPr>
            <a:r>
              <a:rPr lang="en-IN" sz="3300" dirty="0">
                <a:solidFill>
                  <a:schemeClr val="tx1"/>
                </a:solidFill>
                <a:latin typeface="+mj-lt"/>
              </a:rPr>
              <a:t>They will visualize all the information by either photo chart, flow chart, maps, etc.</a:t>
            </a:r>
          </a:p>
          <a:p>
            <a:pPr marL="285750" indent="-285750">
              <a:buFont typeface="Arial" panose="020B0604020202020204" pitchFamily="34" charset="0"/>
              <a:buChar char="•"/>
            </a:pPr>
            <a:r>
              <a:rPr lang="en-IN" sz="3300" dirty="0">
                <a:solidFill>
                  <a:schemeClr val="tx1"/>
                </a:solidFill>
                <a:latin typeface="+mj-lt"/>
              </a:rPr>
              <a:t>At that time how many people are around</a:t>
            </a:r>
          </a:p>
          <a:p>
            <a:pPr marL="285750" indent="-285750">
              <a:buFont typeface="Arial" panose="020B0604020202020204" pitchFamily="34" charset="0"/>
              <a:buChar char="•"/>
            </a:pPr>
            <a:r>
              <a:rPr lang="en-IN" sz="3300" dirty="0">
                <a:solidFill>
                  <a:schemeClr val="tx1"/>
                </a:solidFill>
                <a:latin typeface="+mj-lt"/>
              </a:rPr>
              <a:t>High chances of person who is close to that family is a criminal</a:t>
            </a:r>
          </a:p>
          <a:p>
            <a:pPr marL="285750" indent="-285750">
              <a:buFont typeface="Arial" panose="020B0604020202020204" pitchFamily="34" charset="0"/>
              <a:buChar char="•"/>
            </a:pPr>
            <a:r>
              <a:rPr lang="en-IN" sz="3300" dirty="0">
                <a:solidFill>
                  <a:schemeClr val="tx1"/>
                </a:solidFill>
                <a:latin typeface="+mj-lt"/>
              </a:rPr>
              <a:t>They will discuss the case with peer members</a:t>
            </a:r>
          </a:p>
          <a:p>
            <a:pPr marL="285750" indent="-285750">
              <a:buFont typeface="Arial" panose="020B0604020202020204" pitchFamily="34" charset="0"/>
              <a:buChar char="•"/>
            </a:pPr>
            <a:r>
              <a:rPr lang="en-IN" sz="3300" dirty="0">
                <a:solidFill>
                  <a:schemeClr val="tx1"/>
                </a:solidFill>
                <a:latin typeface="+mj-lt"/>
              </a:rPr>
              <a:t>And take right decision by investigating all suspects</a:t>
            </a:r>
          </a:p>
          <a:p>
            <a:endParaRPr lang="en-IN" dirty="0"/>
          </a:p>
        </p:txBody>
      </p:sp>
      <p:sp>
        <p:nvSpPr>
          <p:cNvPr id="5" name="Title 1">
            <a:extLst>
              <a:ext uri="{FF2B5EF4-FFF2-40B4-BE49-F238E27FC236}">
                <a16:creationId xmlns:a16="http://schemas.microsoft.com/office/drawing/2014/main" id="{12FB0B5F-AF2F-F789-F008-1F6C39455538}"/>
              </a:ext>
            </a:extLst>
          </p:cNvPr>
          <p:cNvSpPr txBox="1">
            <a:spLocks/>
          </p:cNvSpPr>
          <p:nvPr/>
        </p:nvSpPr>
        <p:spPr>
          <a:xfrm>
            <a:off x="733593" y="814683"/>
            <a:ext cx="11029616" cy="988332"/>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Analyze the data 							 Visualize</a:t>
            </a:r>
            <a:r>
              <a:rPr lang="en-IN" dirty="0"/>
              <a:t> the data</a:t>
            </a:r>
            <a:r>
              <a:rPr lang="en-US" dirty="0"/>
              <a:t> </a:t>
            </a:r>
            <a:br>
              <a:rPr lang="en-US" dirty="0"/>
            </a:br>
            <a:r>
              <a:rPr lang="en-US" dirty="0"/>
              <a:t>       (analyze) :										    (share) :</a:t>
            </a:r>
            <a:endParaRPr lang="en-IN" dirty="0"/>
          </a:p>
        </p:txBody>
      </p:sp>
    </p:spTree>
    <p:extLst>
      <p:ext uri="{BB962C8B-B14F-4D97-AF65-F5344CB8AC3E}">
        <p14:creationId xmlns:p14="http://schemas.microsoft.com/office/powerpoint/2010/main" val="968259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5964-0222-25E5-9E1C-CB05641C0A9D}"/>
              </a:ext>
            </a:extLst>
          </p:cNvPr>
          <p:cNvSpPr>
            <a:spLocks noGrp="1"/>
          </p:cNvSpPr>
          <p:nvPr>
            <p:ph type="title"/>
          </p:nvPr>
        </p:nvSpPr>
        <p:spPr>
          <a:xfrm>
            <a:off x="581192" y="509650"/>
            <a:ext cx="11029616" cy="1013800"/>
          </a:xfrm>
        </p:spPr>
        <p:txBody>
          <a:bodyPr/>
          <a:lstStyle/>
          <a:p>
            <a:r>
              <a:rPr lang="en-US" dirty="0"/>
              <a:t>Make recommendations (act) :</a:t>
            </a:r>
            <a:endParaRPr lang="en-IN" dirty="0"/>
          </a:p>
        </p:txBody>
      </p:sp>
      <p:sp>
        <p:nvSpPr>
          <p:cNvPr id="3" name="Content Placeholder 2">
            <a:extLst>
              <a:ext uri="{FF2B5EF4-FFF2-40B4-BE49-F238E27FC236}">
                <a16:creationId xmlns:a16="http://schemas.microsoft.com/office/drawing/2014/main" id="{66E4815D-AFDC-8530-63F0-F672924D60E4}"/>
              </a:ext>
            </a:extLst>
          </p:cNvPr>
          <p:cNvSpPr>
            <a:spLocks noGrp="1"/>
          </p:cNvSpPr>
          <p:nvPr>
            <p:ph idx="1"/>
          </p:nvPr>
        </p:nvSpPr>
        <p:spPr/>
        <p:txBody>
          <a:bodyPr>
            <a:normAutofit/>
          </a:bodyPr>
          <a:lstStyle/>
          <a:p>
            <a:r>
              <a:rPr lang="en-IN" sz="2800" dirty="0"/>
              <a:t>At last, they will take decision by taking and investigating all the aspects properly and precisely.</a:t>
            </a:r>
          </a:p>
          <a:p>
            <a:r>
              <a:rPr lang="en-IN" sz="2800" dirty="0"/>
              <a:t>And, also predict the future chances of this similar cases.</a:t>
            </a:r>
          </a:p>
          <a:p>
            <a:r>
              <a:rPr lang="en-IN" sz="2800" dirty="0"/>
              <a:t>Also, they will give recommendations for taking precautions to avoid these kind of things happen in future</a:t>
            </a:r>
          </a:p>
        </p:txBody>
      </p:sp>
    </p:spTree>
    <p:extLst>
      <p:ext uri="{BB962C8B-B14F-4D97-AF65-F5344CB8AC3E}">
        <p14:creationId xmlns:p14="http://schemas.microsoft.com/office/powerpoint/2010/main" val="3207077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2.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122</TotalTime>
  <Words>593</Words>
  <Application>Microsoft Office PowerPoint</Application>
  <PresentationFormat>Widescreen</PresentationFormat>
  <Paragraphs>47</Paragraphs>
  <Slides>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Gill Sans MT</vt:lpstr>
      <vt:lpstr>Söhne</vt:lpstr>
      <vt:lpstr>Wingdings 2</vt:lpstr>
      <vt:lpstr>Custom</vt:lpstr>
      <vt:lpstr>Data Analytics process: A Real-Life Scenario Case Study</vt:lpstr>
      <vt:lpstr>INTRODUCTION : DATA ANALYTICS</vt:lpstr>
      <vt:lpstr>Data analytics process</vt:lpstr>
      <vt:lpstr>Define the question (plan ):</vt:lpstr>
      <vt:lpstr>    Collect  the  data                            clean  the  data            (prepare) :                  (process) :</vt:lpstr>
      <vt:lpstr>PowerPoint Presentation</vt:lpstr>
      <vt:lpstr>Make recommendations (act)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process: A Real-Life Scenario Case Study</dc:title>
  <dc:creator>hitishasoni1014@outlook.com</dc:creator>
  <cp:lastModifiedBy>hitishasoni1014@outlook.com</cp:lastModifiedBy>
  <cp:revision>2</cp:revision>
  <dcterms:created xsi:type="dcterms:W3CDTF">2023-09-14T20:35:36Z</dcterms:created>
  <dcterms:modified xsi:type="dcterms:W3CDTF">2023-09-15T13:09:52Z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