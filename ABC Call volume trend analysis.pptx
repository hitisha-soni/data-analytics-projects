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handoutMasterIdLst>
    <p:handoutMasterId r:id="rId21"/>
  </p:handoutMasterIdLst>
  <p:sldIdLst>
    <p:sldId id="257" r:id="rId5"/>
    <p:sldId id="268" r:id="rId6"/>
    <p:sldId id="272" r:id="rId7"/>
    <p:sldId id="273" r:id="rId8"/>
    <p:sldId id="275" r:id="rId9"/>
    <p:sldId id="274" r:id="rId10"/>
    <p:sldId id="263" r:id="rId11"/>
    <p:sldId id="278" r:id="rId12"/>
    <p:sldId id="277" r:id="rId13"/>
    <p:sldId id="279" r:id="rId14"/>
    <p:sldId id="280" r:id="rId15"/>
    <p:sldId id="281" r:id="rId16"/>
    <p:sldId id="282" r:id="rId17"/>
    <p:sldId id="283" r:id="rId18"/>
    <p:sldId id="259" r:id="rId1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tisha Soni" initials="HS" lastIdx="2" clrIdx="0">
    <p:extLst>
      <p:ext uri="{19B8F6BF-5375-455C-9EA6-DF929625EA0E}">
        <p15:presenceInfo xmlns:p15="http://schemas.microsoft.com/office/powerpoint/2012/main" userId="bad279fb465d4d3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4660"/>
  </p:normalViewPr>
  <p:slideViewPr>
    <p:cSldViewPr>
      <p:cViewPr varScale="1">
        <p:scale>
          <a:sx n="62" d="100"/>
          <a:sy n="62" d="100"/>
        </p:scale>
        <p:origin x="944" y="-460"/>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D:\Trainity\project%208\Call_Volume_Trend_Analysis_Project_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Trainity\project%208\Call_Volume_Trend_Analysis_Project_9.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Trainity\project%208\Call_Volume_Trend_Analysis_Project_9.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Trainity\Statistic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Trainity\project%208\Call_Volume_Trend_Analysis_Project_9.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[Call_Volume_Trend_Analysis_Project_9.xlsx]task 1!PivotTable2</c:name>
    <c:fmtId val="8"/>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Avg Duration of calls</a:t>
            </a:r>
          </a:p>
        </c:rich>
      </c:tx>
      <c:layout>
        <c:manualLayout>
          <c:xMode val="edge"/>
          <c:yMode val="edge"/>
          <c:x val="0.40686101737282837"/>
          <c:y val="0.14258897637795276"/>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'task 1'!$F$4</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 1'!$E$5:$E$17</c:f>
              <c:strCache>
                <c:ptCount val="12"/>
                <c:pt idx="0">
                  <c:v>9_10</c:v>
                </c:pt>
                <c:pt idx="1">
                  <c:v>10_11</c:v>
                </c:pt>
                <c:pt idx="2">
                  <c:v>11_12</c:v>
                </c:pt>
                <c:pt idx="3">
                  <c:v>12_13</c:v>
                </c:pt>
                <c:pt idx="4">
                  <c:v>13_14</c:v>
                </c:pt>
                <c:pt idx="5">
                  <c:v>14_15</c:v>
                </c:pt>
                <c:pt idx="6">
                  <c:v>15_16</c:v>
                </c:pt>
                <c:pt idx="7">
                  <c:v>16_17</c:v>
                </c:pt>
                <c:pt idx="8">
                  <c:v>17_18</c:v>
                </c:pt>
                <c:pt idx="9">
                  <c:v>18_19</c:v>
                </c:pt>
                <c:pt idx="10">
                  <c:v>19_20</c:v>
                </c:pt>
                <c:pt idx="11">
                  <c:v>20_21</c:v>
                </c:pt>
              </c:strCache>
            </c:strRef>
          </c:cat>
          <c:val>
            <c:numRef>
              <c:f>'task 1'!$F$5:$F$17</c:f>
              <c:numCache>
                <c:formatCode>[$-F400]h:mm:ss\ AM/PM</c:formatCode>
                <c:ptCount val="12"/>
                <c:pt idx="0">
                  <c:v>2.3040405751279629E-3</c:v>
                </c:pt>
                <c:pt idx="1">
                  <c:v>2.3533684045226057E-3</c:v>
                </c:pt>
                <c:pt idx="2">
                  <c:v>2.3061924000519042E-3</c:v>
                </c:pt>
                <c:pt idx="3">
                  <c:v>2.232509060958749E-3</c:v>
                </c:pt>
                <c:pt idx="4">
                  <c:v>2.2539372039952375E-3</c:v>
                </c:pt>
                <c:pt idx="5">
                  <c:v>2.2416328182333226E-3</c:v>
                </c:pt>
                <c:pt idx="6">
                  <c:v>2.3019550639557041E-3</c:v>
                </c:pt>
                <c:pt idx="7">
                  <c:v>2.3248632690892651E-3</c:v>
                </c:pt>
                <c:pt idx="8">
                  <c:v>2.3176942483201565E-3</c:v>
                </c:pt>
                <c:pt idx="9">
                  <c:v>2.3443399044205332E-3</c:v>
                </c:pt>
                <c:pt idx="10">
                  <c:v>2.3542369504716575E-3</c:v>
                </c:pt>
                <c:pt idx="11">
                  <c:v>2.3477545489740625E-3</c:v>
                </c:pt>
              </c:numCache>
            </c:numRef>
          </c:val>
          <c:extLst>
            <c:ext xmlns:c16="http://schemas.microsoft.com/office/drawing/2014/chart" uri="{C3380CC4-5D6E-409C-BE32-E72D297353CC}">
              <c16:uniqueId val="{00000000-11A6-4F26-97CB-4D323FEF5ED7}"/>
            </c:ext>
          </c:extLst>
        </c:ser>
        <c:dLbls>
          <c:showLegendKey val="0"/>
          <c:showVal val="0"/>
          <c:showCatName val="0"/>
          <c:showSerName val="0"/>
          <c:showPercent val="0"/>
          <c:showBubbleSize val="0"/>
        </c:dLbls>
        <c:gapWidth val="100"/>
        <c:overlap val="-24"/>
        <c:axId val="660443136"/>
        <c:axId val="827672944"/>
      </c:barChart>
      <c:catAx>
        <c:axId val="660443136"/>
        <c:scaling>
          <c:orientation val="minMax"/>
        </c:scaling>
        <c:delete val="0"/>
        <c:axPos val="b"/>
        <c:title>
          <c:tx>
            <c:rich>
              <a:bodyPr rot="0" spcFirstLastPara="1" vertOverflow="ellipsis" vert="horz" wrap="square" anchor="ctr" anchorCtr="1"/>
              <a:lstStyle/>
              <a:p>
                <a:pPr>
                  <a:defRPr sz="1200" b="1" i="0" u="none" strike="noStrike" kern="1200" cap="all" baseline="0">
                    <a:solidFill>
                      <a:schemeClr val="lt1">
                        <a:lumMod val="85000"/>
                      </a:schemeClr>
                    </a:solidFill>
                    <a:latin typeface="+mn-lt"/>
                    <a:ea typeface="+mn-ea"/>
                    <a:cs typeface="+mn-cs"/>
                  </a:defRPr>
                </a:pPr>
                <a:r>
                  <a:rPr lang="en-IN" sz="1200"/>
                  <a:t>Time_Bucket</a:t>
                </a:r>
              </a:p>
            </c:rich>
          </c:tx>
          <c:layout>
            <c:manualLayout>
              <c:xMode val="edge"/>
              <c:yMode val="edge"/>
              <c:x val="0.41286376702912131"/>
              <c:y val="0.89568151181102373"/>
            </c:manualLayout>
          </c:layout>
          <c:overlay val="0"/>
          <c:spPr>
            <a:noFill/>
            <a:ln>
              <a:noFill/>
            </a:ln>
            <a:effectLst/>
          </c:spPr>
          <c:txPr>
            <a:bodyPr rot="0" spcFirstLastPara="1" vertOverflow="ellipsis" vert="horz" wrap="square" anchor="ctr" anchorCtr="1"/>
            <a:lstStyle/>
            <a:p>
              <a:pPr>
                <a:defRPr sz="12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27672944"/>
        <c:crosses val="autoZero"/>
        <c:auto val="1"/>
        <c:lblAlgn val="ctr"/>
        <c:lblOffset val="100"/>
        <c:noMultiLvlLbl val="0"/>
      </c:catAx>
      <c:valAx>
        <c:axId val="827672944"/>
        <c:scaling>
          <c:orientation val="minMax"/>
        </c:scaling>
        <c:delete val="1"/>
        <c:axPos val="l"/>
        <c:majorGridlines>
          <c:spPr>
            <a:ln w="9525" cap="flat" cmpd="sng" algn="ctr">
              <a:solidFill>
                <a:schemeClr val="lt1">
                  <a:lumMod val="95000"/>
                  <a:alpha val="10000"/>
                </a:schemeClr>
              </a:solidFill>
              <a:round/>
            </a:ln>
            <a:effectLst/>
          </c:spPr>
        </c:majorGridlines>
        <c:numFmt formatCode="[$-F400]h:mm:ss\ AM/PM" sourceLinked="1"/>
        <c:majorTickMark val="none"/>
        <c:minorTickMark val="none"/>
        <c:tickLblPos val="nextTo"/>
        <c:crossAx val="6604431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[Call_Volume_Trend_Analysis_Project_9.xlsx]task 2!PivotTable3</c:name>
    <c:fmtId val="2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No.</a:t>
            </a:r>
            <a:r>
              <a:rPr lang="en-IN" baseline="0"/>
              <a:t> of calls in each time_bucket</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'task 2'!$E$3</c:f>
              <c:strCache>
                <c:ptCount val="1"/>
                <c:pt idx="0">
                  <c:v>Count of Customer_Phone_No</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'task 2'!$D$4:$D$16</c:f>
              <c:strCache>
                <c:ptCount val="12"/>
                <c:pt idx="0">
                  <c:v>11_12</c:v>
                </c:pt>
                <c:pt idx="1">
                  <c:v>10_11</c:v>
                </c:pt>
                <c:pt idx="2">
                  <c:v>12_13</c:v>
                </c:pt>
                <c:pt idx="3">
                  <c:v>13_14</c:v>
                </c:pt>
                <c:pt idx="4">
                  <c:v>14_15</c:v>
                </c:pt>
                <c:pt idx="5">
                  <c:v>9_10</c:v>
                </c:pt>
                <c:pt idx="6">
                  <c:v>15_16</c:v>
                </c:pt>
                <c:pt idx="7">
                  <c:v>16_17</c:v>
                </c:pt>
                <c:pt idx="8">
                  <c:v>17_18</c:v>
                </c:pt>
                <c:pt idx="9">
                  <c:v>18_19</c:v>
                </c:pt>
                <c:pt idx="10">
                  <c:v>19_20</c:v>
                </c:pt>
                <c:pt idx="11">
                  <c:v>20_21</c:v>
                </c:pt>
              </c:strCache>
            </c:strRef>
          </c:cat>
          <c:val>
            <c:numRef>
              <c:f>'task 2'!$E$4:$E$16</c:f>
              <c:numCache>
                <c:formatCode>General</c:formatCode>
                <c:ptCount val="12"/>
                <c:pt idx="0">
                  <c:v>14626</c:v>
                </c:pt>
                <c:pt idx="1">
                  <c:v>13313</c:v>
                </c:pt>
                <c:pt idx="2">
                  <c:v>12652</c:v>
                </c:pt>
                <c:pt idx="3">
                  <c:v>11561</c:v>
                </c:pt>
                <c:pt idx="4">
                  <c:v>10561</c:v>
                </c:pt>
                <c:pt idx="5">
                  <c:v>9588</c:v>
                </c:pt>
                <c:pt idx="6">
                  <c:v>9159</c:v>
                </c:pt>
                <c:pt idx="7">
                  <c:v>8788</c:v>
                </c:pt>
                <c:pt idx="8">
                  <c:v>8534</c:v>
                </c:pt>
                <c:pt idx="9">
                  <c:v>7238</c:v>
                </c:pt>
                <c:pt idx="10">
                  <c:v>6463</c:v>
                </c:pt>
                <c:pt idx="11">
                  <c:v>5505</c:v>
                </c:pt>
              </c:numCache>
            </c:numRef>
          </c:val>
          <c:extLst>
            <c:ext xmlns:c16="http://schemas.microsoft.com/office/drawing/2014/chart" uri="{C3380CC4-5D6E-409C-BE32-E72D297353CC}">
              <c16:uniqueId val="{00000000-86B1-4398-B3BA-CF3662DB38A6}"/>
            </c:ext>
          </c:extLst>
        </c:ser>
        <c:dLbls>
          <c:showLegendKey val="0"/>
          <c:showVal val="0"/>
          <c:showCatName val="0"/>
          <c:showSerName val="0"/>
          <c:showPercent val="0"/>
          <c:showBubbleSize val="0"/>
        </c:dLbls>
        <c:gapWidth val="100"/>
        <c:axId val="873034528"/>
        <c:axId val="696808304"/>
      </c:barChart>
      <c:lineChart>
        <c:grouping val="standard"/>
        <c:varyColors val="0"/>
        <c:ser>
          <c:idx val="1"/>
          <c:order val="1"/>
          <c:tx>
            <c:strRef>
              <c:f>'task 2'!$F$3</c:f>
              <c:strCache>
                <c:ptCount val="1"/>
                <c:pt idx="0">
                  <c:v>% of Customer_Phone_No</c:v>
                </c:pt>
              </c:strCache>
            </c:strRef>
          </c:tx>
          <c:spPr>
            <a:ln w="34925" cap="rnd">
              <a:solidFill>
                <a:schemeClr val="accent2"/>
              </a:solidFill>
              <a:round/>
            </a:ln>
            <a:effectLst>
              <a:outerShdw blurRad="57150" dist="19050" dir="5400000" algn="ctr" rotWithShape="0">
                <a:srgbClr val="000000">
                  <a:alpha val="63000"/>
                </a:srgbClr>
              </a:outerShdw>
            </a:effectLst>
          </c:spPr>
          <c:marker>
            <c:symbol val="none"/>
          </c:marker>
          <c:cat>
            <c:strRef>
              <c:f>'task 2'!$D$4:$D$16</c:f>
              <c:strCache>
                <c:ptCount val="12"/>
                <c:pt idx="0">
                  <c:v>11_12</c:v>
                </c:pt>
                <c:pt idx="1">
                  <c:v>10_11</c:v>
                </c:pt>
                <c:pt idx="2">
                  <c:v>12_13</c:v>
                </c:pt>
                <c:pt idx="3">
                  <c:v>13_14</c:v>
                </c:pt>
                <c:pt idx="4">
                  <c:v>14_15</c:v>
                </c:pt>
                <c:pt idx="5">
                  <c:v>9_10</c:v>
                </c:pt>
                <c:pt idx="6">
                  <c:v>15_16</c:v>
                </c:pt>
                <c:pt idx="7">
                  <c:v>16_17</c:v>
                </c:pt>
                <c:pt idx="8">
                  <c:v>17_18</c:v>
                </c:pt>
                <c:pt idx="9">
                  <c:v>18_19</c:v>
                </c:pt>
                <c:pt idx="10">
                  <c:v>19_20</c:v>
                </c:pt>
                <c:pt idx="11">
                  <c:v>20_21</c:v>
                </c:pt>
              </c:strCache>
            </c:strRef>
          </c:cat>
          <c:val>
            <c:numRef>
              <c:f>'task 2'!$F$4:$F$16</c:f>
              <c:numCache>
                <c:formatCode>0.00%</c:formatCode>
                <c:ptCount val="12"/>
                <c:pt idx="0">
                  <c:v>0.12396175882293115</c:v>
                </c:pt>
                <c:pt idx="1">
                  <c:v>0.11283350849238906</c:v>
                </c:pt>
                <c:pt idx="2">
                  <c:v>0.10723124385530731</c:v>
                </c:pt>
                <c:pt idx="3">
                  <c:v>9.7984540800759398E-2</c:v>
                </c:pt>
                <c:pt idx="4">
                  <c:v>8.9509102620605491E-2</c:v>
                </c:pt>
                <c:pt idx="5">
                  <c:v>8.1262501271315721E-2</c:v>
                </c:pt>
                <c:pt idx="6">
                  <c:v>7.7626538292029701E-2</c:v>
                </c:pt>
                <c:pt idx="7">
                  <c:v>7.4482150727192595E-2</c:v>
                </c:pt>
                <c:pt idx="8">
                  <c:v>7.2329389429433497E-2</c:v>
                </c:pt>
                <c:pt idx="9">
                  <c:v>6.1345221547954028E-2</c:v>
                </c:pt>
                <c:pt idx="10">
                  <c:v>5.4776756958334748E-2</c:v>
                </c:pt>
                <c:pt idx="11">
                  <c:v>4.6657287181747296E-2</c:v>
                </c:pt>
              </c:numCache>
            </c:numRef>
          </c:val>
          <c:smooth val="0"/>
          <c:extLst>
            <c:ext xmlns:c16="http://schemas.microsoft.com/office/drawing/2014/chart" uri="{C3380CC4-5D6E-409C-BE32-E72D297353CC}">
              <c16:uniqueId val="{00000001-86B1-4398-B3BA-CF3662DB38A6}"/>
            </c:ext>
          </c:extLst>
        </c:ser>
        <c:dLbls>
          <c:showLegendKey val="0"/>
          <c:showVal val="0"/>
          <c:showCatName val="0"/>
          <c:showSerName val="0"/>
          <c:showPercent val="0"/>
          <c:showBubbleSize val="0"/>
        </c:dLbls>
        <c:marker val="1"/>
        <c:smooth val="0"/>
        <c:axId val="949301856"/>
        <c:axId val="663141136"/>
      </c:lineChart>
      <c:catAx>
        <c:axId val="87303452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6808304"/>
        <c:crosses val="autoZero"/>
        <c:auto val="1"/>
        <c:lblAlgn val="ctr"/>
        <c:lblOffset val="100"/>
        <c:noMultiLvlLbl val="0"/>
      </c:catAx>
      <c:valAx>
        <c:axId val="696808304"/>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73034528"/>
        <c:crosses val="autoZero"/>
        <c:crossBetween val="between"/>
      </c:valAx>
      <c:valAx>
        <c:axId val="663141136"/>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949301856"/>
        <c:crosses val="max"/>
        <c:crossBetween val="between"/>
      </c:valAx>
      <c:catAx>
        <c:axId val="949301856"/>
        <c:scaling>
          <c:orientation val="minMax"/>
        </c:scaling>
        <c:delete val="1"/>
        <c:axPos val="b"/>
        <c:numFmt formatCode="General" sourceLinked="1"/>
        <c:majorTickMark val="out"/>
        <c:minorTickMark val="none"/>
        <c:tickLblPos val="nextTo"/>
        <c:crossAx val="663141136"/>
        <c:crosses val="autoZero"/>
        <c:auto val="1"/>
        <c:lblAlgn val="ctr"/>
        <c:lblOffset val="100"/>
        <c:noMultiLvlLbl val="0"/>
      </c:cat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Agents according</a:t>
            </a:r>
            <a:r>
              <a:rPr lang="en-US" baseline="0"/>
              <a:t> to time_bucket</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'task 3'!$T$29</c:f>
              <c:strCache>
                <c:ptCount val="1"/>
                <c:pt idx="0">
                  <c:v>No. of agents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 3'!$S$30:$S$41</c:f>
              <c:strCache>
                <c:ptCount val="12"/>
                <c:pt idx="0">
                  <c:v>9_10</c:v>
                </c:pt>
                <c:pt idx="1">
                  <c:v>10_11</c:v>
                </c:pt>
                <c:pt idx="2">
                  <c:v>11_12</c:v>
                </c:pt>
                <c:pt idx="3">
                  <c:v>12_13</c:v>
                </c:pt>
                <c:pt idx="4">
                  <c:v>13_14</c:v>
                </c:pt>
                <c:pt idx="5">
                  <c:v>14_15</c:v>
                </c:pt>
                <c:pt idx="6">
                  <c:v>15_16</c:v>
                </c:pt>
                <c:pt idx="7">
                  <c:v>16_17</c:v>
                </c:pt>
                <c:pt idx="8">
                  <c:v>17_18</c:v>
                </c:pt>
                <c:pt idx="9">
                  <c:v>18_19</c:v>
                </c:pt>
                <c:pt idx="10">
                  <c:v>19_20</c:v>
                </c:pt>
                <c:pt idx="11">
                  <c:v>20_21</c:v>
                </c:pt>
              </c:strCache>
            </c:strRef>
          </c:cat>
          <c:val>
            <c:numRef>
              <c:f>'task 3'!$T$30:$T$41</c:f>
              <c:numCache>
                <c:formatCode>0</c:formatCode>
                <c:ptCount val="12"/>
                <c:pt idx="0">
                  <c:v>4.3881750686510488</c:v>
                </c:pt>
                <c:pt idx="1">
                  <c:v>6.0930094585890089</c:v>
                </c:pt>
                <c:pt idx="2">
                  <c:v>6.6939349764382818</c:v>
                </c:pt>
                <c:pt idx="3">
                  <c:v>5.790487168186595</c:v>
                </c:pt>
                <c:pt idx="4">
                  <c:v>5.2911652032410075</c:v>
                </c:pt>
                <c:pt idx="5">
                  <c:v>4.8334915415126964</c:v>
                </c:pt>
                <c:pt idx="6">
                  <c:v>4.1918330677696041</c:v>
                </c:pt>
                <c:pt idx="7">
                  <c:v>4.0220361392684003</c:v>
                </c:pt>
                <c:pt idx="8">
                  <c:v>3.9057870291894088</c:v>
                </c:pt>
                <c:pt idx="9">
                  <c:v>3.3126419635895177</c:v>
                </c:pt>
                <c:pt idx="10">
                  <c:v>2.9579448757500764</c:v>
                </c:pt>
                <c:pt idx="11">
                  <c:v>2.5194935078143539</c:v>
                </c:pt>
              </c:numCache>
            </c:numRef>
          </c:val>
          <c:extLst>
            <c:ext xmlns:c16="http://schemas.microsoft.com/office/drawing/2014/chart" uri="{C3380CC4-5D6E-409C-BE32-E72D297353CC}">
              <c16:uniqueId val="{00000000-E4F4-485F-8D86-AFD04BB90B23}"/>
            </c:ext>
          </c:extLst>
        </c:ser>
        <c:dLbls>
          <c:dLblPos val="outEnd"/>
          <c:showLegendKey val="0"/>
          <c:showVal val="1"/>
          <c:showCatName val="0"/>
          <c:showSerName val="0"/>
          <c:showPercent val="0"/>
          <c:showBubbleSize val="0"/>
        </c:dLbls>
        <c:gapWidth val="100"/>
        <c:overlap val="-24"/>
        <c:axId val="1278069264"/>
        <c:axId val="985623344"/>
      </c:barChart>
      <c:catAx>
        <c:axId val="1278069264"/>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Time_bucket</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0"/>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985623344"/>
        <c:crosses val="autoZero"/>
        <c:auto val="1"/>
        <c:lblAlgn val="ctr"/>
        <c:lblOffset val="100"/>
        <c:noMultiLvlLbl val="0"/>
      </c:catAx>
      <c:valAx>
        <c:axId val="985623344"/>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No</a:t>
                </a:r>
                <a:r>
                  <a:rPr lang="en-IN" baseline="0"/>
                  <a:t> of agents</a:t>
                </a:r>
              </a:p>
              <a:p>
                <a:pPr>
                  <a:defRPr/>
                </a:pPr>
                <a:endParaRPr lang="en-IN"/>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278069264"/>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[Statistics.xlsx]Sheet1!PivotTable2</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extLst>
        </c:dLbl>
      </c:pivotFmt>
      <c:pivotFmt>
        <c:idx val="1"/>
        <c:spPr>
          <a:solidFill>
            <a:schemeClr val="accent6">
              <a:lumMod val="40000"/>
              <a:lumOff val="60000"/>
            </a:schemeClr>
          </a:solidFill>
          <a:ln>
            <a:noFill/>
          </a:ln>
          <a:effectLst/>
        </c:spPr>
      </c:pivotFmt>
      <c:pivotFmt>
        <c:idx val="2"/>
        <c:spPr>
          <a:solidFill>
            <a:srgbClr val="92D050"/>
          </a:solidFill>
          <a:ln>
            <a:noFill/>
          </a:ln>
          <a:effectLst/>
        </c:spPr>
      </c:pivotFmt>
      <c:pivotFmt>
        <c:idx val="3"/>
        <c:spPr>
          <a:solidFill>
            <a:srgbClr val="7030A0"/>
          </a:solidFill>
          <a:ln>
            <a:noFill/>
          </a:ln>
          <a:effectLst/>
        </c:spPr>
      </c:pivotFmt>
      <c:pivotFmt>
        <c:idx val="4"/>
        <c:spPr>
          <a:solidFill>
            <a:srgbClr val="FFFF00"/>
          </a:solidFill>
          <a:ln>
            <a:noFill/>
          </a:ln>
          <a:effectLst/>
        </c:spPr>
      </c:pivotFmt>
      <c:pivotFmt>
        <c:idx val="5"/>
        <c:spPr>
          <a:solidFill>
            <a:schemeClr val="accent2">
              <a:lumMod val="60000"/>
              <a:lumOff val="40000"/>
            </a:schemeClr>
          </a:solidFill>
          <a:ln>
            <a:noFill/>
          </a:ln>
          <a:effectLst/>
        </c:spPr>
      </c:pivotFmt>
      <c:pivotFmt>
        <c:idx val="6"/>
        <c:spPr>
          <a:solidFill>
            <a:srgbClr val="FF0000"/>
          </a:solidFill>
          <a:ln>
            <a:noFill/>
          </a:ln>
          <a:effectLst/>
        </c:spPr>
      </c:pivotFmt>
      <c:pivotFmt>
        <c:idx val="7"/>
        <c:spPr>
          <a:solidFill>
            <a:srgbClr val="FF66CC"/>
          </a:solidFill>
          <a:ln>
            <a:noFill/>
          </a:ln>
          <a:effectLst/>
        </c:spPr>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extLst>
        </c:dLbl>
      </c:pivotFmt>
      <c:pivotFmt>
        <c:idx val="12"/>
        <c:spPr>
          <a:solidFill>
            <a:schemeClr val="accent1"/>
          </a:solidFill>
          <a:ln>
            <a:noFill/>
          </a:ln>
          <a:effectLst/>
        </c:spPr>
      </c:pivotFmt>
      <c:pivotFmt>
        <c:idx val="13"/>
        <c:spPr>
          <a:solidFill>
            <a:srgbClr val="92D050"/>
          </a:solidFill>
          <a:ln>
            <a:noFill/>
          </a:ln>
          <a:effectLst/>
        </c:spPr>
      </c:pivotFmt>
      <c:pivotFmt>
        <c:idx val="14"/>
        <c:spPr>
          <a:solidFill>
            <a:srgbClr val="7030A0"/>
          </a:solidFill>
          <a:ln>
            <a:noFill/>
          </a:ln>
          <a:effectLst/>
        </c:spPr>
      </c:pivotFmt>
      <c:pivotFmt>
        <c:idx val="15"/>
        <c:spPr>
          <a:solidFill>
            <a:schemeClr val="accent1"/>
          </a:solidFill>
          <a:ln>
            <a:noFill/>
          </a:ln>
          <a:effectLst/>
        </c:spPr>
      </c:pivotFmt>
      <c:pivotFmt>
        <c:idx val="16"/>
        <c:spPr>
          <a:solidFill>
            <a:srgbClr val="FFFF00"/>
          </a:solidFill>
          <a:ln>
            <a:noFill/>
          </a:ln>
          <a:effectLst/>
        </c:spPr>
      </c:pivotFmt>
      <c:pivotFmt>
        <c:idx val="17"/>
        <c:spPr>
          <a:solidFill>
            <a:srgbClr val="FF66CC"/>
          </a:solidFill>
          <a:ln>
            <a:noFill/>
          </a:ln>
          <a:effectLst/>
        </c:spPr>
      </c:pivotFmt>
      <c:pivotFmt>
        <c:idx val="18"/>
        <c:spPr>
          <a:solidFill>
            <a:schemeClr val="accent2">
              <a:lumMod val="60000"/>
              <a:lumOff val="40000"/>
            </a:schemeClr>
          </a:solidFill>
          <a:ln>
            <a:noFill/>
          </a:ln>
          <a:effectLst/>
        </c:spPr>
      </c:pivotFmt>
      <c:pivotFmt>
        <c:idx val="19"/>
        <c:spPr>
          <a:solidFill>
            <a:srgbClr val="FF0000"/>
          </a:solidFill>
          <a:ln>
            <a:noFill/>
          </a:ln>
          <a:effectLst/>
        </c:spPr>
      </c:pivotFmt>
      <c:pivotFmt>
        <c:idx val="20"/>
        <c:spPr>
          <a:solidFill>
            <a:schemeClr val="accent6">
              <a:lumMod val="40000"/>
              <a:lumOff val="60000"/>
            </a:schemeClr>
          </a:solidFill>
          <a:ln>
            <a:noFill/>
          </a:ln>
          <a:effectLst/>
        </c:spPr>
      </c:pivotFmt>
      <c:pivotFmt>
        <c:idx val="21"/>
        <c:spPr>
          <a:solidFill>
            <a:schemeClr val="accent1"/>
          </a:solidFill>
          <a:ln>
            <a:noFill/>
          </a:ln>
          <a:effectLst/>
        </c:spPr>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extLst>
        </c:dLbl>
      </c:pivotFmt>
      <c:pivotFmt>
        <c:idx val="23"/>
        <c:spPr>
          <a:solidFill>
            <a:schemeClr val="accent1"/>
          </a:solidFill>
          <a:ln>
            <a:noFill/>
          </a:ln>
          <a:effectLst/>
        </c:spPr>
      </c:pivotFmt>
      <c:pivotFmt>
        <c:idx val="24"/>
        <c:spPr>
          <a:solidFill>
            <a:srgbClr val="92D050"/>
          </a:solidFill>
          <a:ln>
            <a:noFill/>
          </a:ln>
          <a:effectLst/>
        </c:spPr>
      </c:pivotFmt>
      <c:pivotFmt>
        <c:idx val="25"/>
        <c:spPr>
          <a:solidFill>
            <a:srgbClr val="7030A0"/>
          </a:solidFill>
          <a:ln>
            <a:noFill/>
          </a:ln>
          <a:effectLst/>
        </c:spPr>
      </c:pivotFmt>
      <c:pivotFmt>
        <c:idx val="26"/>
        <c:spPr>
          <a:solidFill>
            <a:schemeClr val="accent1"/>
          </a:solidFill>
          <a:ln>
            <a:noFill/>
          </a:ln>
          <a:effectLst/>
        </c:spPr>
      </c:pivotFmt>
      <c:pivotFmt>
        <c:idx val="27"/>
        <c:spPr>
          <a:solidFill>
            <a:srgbClr val="FFFF00"/>
          </a:solidFill>
          <a:ln>
            <a:noFill/>
          </a:ln>
          <a:effectLst/>
        </c:spPr>
      </c:pivotFmt>
      <c:pivotFmt>
        <c:idx val="28"/>
        <c:spPr>
          <a:solidFill>
            <a:srgbClr val="FF66CC"/>
          </a:solidFill>
          <a:ln>
            <a:noFill/>
          </a:ln>
          <a:effectLst/>
        </c:spPr>
      </c:pivotFmt>
      <c:pivotFmt>
        <c:idx val="29"/>
        <c:spPr>
          <a:solidFill>
            <a:schemeClr val="accent2">
              <a:lumMod val="60000"/>
              <a:lumOff val="40000"/>
            </a:schemeClr>
          </a:solidFill>
          <a:ln>
            <a:noFill/>
          </a:ln>
          <a:effectLst/>
        </c:spPr>
      </c:pivotFmt>
      <c:pivotFmt>
        <c:idx val="30"/>
        <c:spPr>
          <a:solidFill>
            <a:srgbClr val="FF0000"/>
          </a:solidFill>
          <a:ln>
            <a:noFill/>
          </a:ln>
          <a:effectLst/>
        </c:spPr>
      </c:pivotFmt>
      <c:pivotFmt>
        <c:idx val="31"/>
        <c:spPr>
          <a:solidFill>
            <a:schemeClr val="accent6">
              <a:lumMod val="40000"/>
              <a:lumOff val="60000"/>
            </a:schemeClr>
          </a:solidFill>
          <a:ln>
            <a:noFill/>
          </a:ln>
          <a:effectLst/>
        </c:spPr>
      </c:pivotFmt>
      <c:pivotFmt>
        <c:idx val="32"/>
        <c:spPr>
          <a:solidFill>
            <a:schemeClr val="accent1"/>
          </a:solidFill>
          <a:ln>
            <a:noFill/>
          </a:ln>
          <a:effectLst/>
        </c:spPr>
      </c:pivotFmt>
    </c:pivotFmts>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63990471522606418"/>
          <c:y val="0.11823179970048411"/>
          <c:w val="0.33099475021773844"/>
          <c:h val="0.8588797767607425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Agents required at night in each time_bucket</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 4'!$I$29:$I$40</c:f>
              <c:strCache>
                <c:ptCount val="12"/>
                <c:pt idx="0">
                  <c:v>9pm - 10pm</c:v>
                </c:pt>
                <c:pt idx="1">
                  <c:v>10pm - 11pm</c:v>
                </c:pt>
                <c:pt idx="2">
                  <c:v>11pm - 12am</c:v>
                </c:pt>
                <c:pt idx="3">
                  <c:v>12am - 11am</c:v>
                </c:pt>
                <c:pt idx="4">
                  <c:v>1am - 2am</c:v>
                </c:pt>
                <c:pt idx="5">
                  <c:v>2am - 3am</c:v>
                </c:pt>
                <c:pt idx="6">
                  <c:v>3am - 4am</c:v>
                </c:pt>
                <c:pt idx="7">
                  <c:v>4am - 5am</c:v>
                </c:pt>
                <c:pt idx="8">
                  <c:v>5am - 6am</c:v>
                </c:pt>
                <c:pt idx="9">
                  <c:v>6am - 7am</c:v>
                </c:pt>
                <c:pt idx="10">
                  <c:v>7am - 8am</c:v>
                </c:pt>
                <c:pt idx="11">
                  <c:v>8am - 9am</c:v>
                </c:pt>
              </c:strCache>
            </c:strRef>
          </c:cat>
          <c:val>
            <c:numRef>
              <c:f>'task 4'!$K$29:$K$40</c:f>
              <c:numCache>
                <c:formatCode>0</c:formatCode>
                <c:ptCount val="12"/>
                <c:pt idx="0">
                  <c:v>1.7</c:v>
                </c:pt>
                <c:pt idx="1">
                  <c:v>1.7</c:v>
                </c:pt>
                <c:pt idx="2">
                  <c:v>1.1333333333333333</c:v>
                </c:pt>
                <c:pt idx="3">
                  <c:v>1.1333333333333333</c:v>
                </c:pt>
                <c:pt idx="4">
                  <c:v>0.56666666666666665</c:v>
                </c:pt>
                <c:pt idx="5">
                  <c:v>0.56666666666666665</c:v>
                </c:pt>
                <c:pt idx="6">
                  <c:v>0.56666666666666665</c:v>
                </c:pt>
                <c:pt idx="7">
                  <c:v>0.56666666666666665</c:v>
                </c:pt>
                <c:pt idx="8">
                  <c:v>1.7</c:v>
                </c:pt>
                <c:pt idx="9">
                  <c:v>2.2666666666666666</c:v>
                </c:pt>
                <c:pt idx="10">
                  <c:v>2.2666666666666666</c:v>
                </c:pt>
                <c:pt idx="11">
                  <c:v>2.8333333333333335</c:v>
                </c:pt>
              </c:numCache>
            </c:numRef>
          </c:val>
          <c:extLst>
            <c:ext xmlns:c16="http://schemas.microsoft.com/office/drawing/2014/chart" uri="{C3380CC4-5D6E-409C-BE32-E72D297353CC}">
              <c16:uniqueId val="{00000000-563B-40FF-9B2E-1DAB3BF2823C}"/>
            </c:ext>
          </c:extLst>
        </c:ser>
        <c:dLbls>
          <c:showLegendKey val="0"/>
          <c:showVal val="0"/>
          <c:showCatName val="0"/>
          <c:showSerName val="0"/>
          <c:showPercent val="0"/>
          <c:showBubbleSize val="0"/>
        </c:dLbls>
        <c:gapWidth val="100"/>
        <c:overlap val="-24"/>
        <c:axId val="1166138480"/>
        <c:axId val="1281524432"/>
      </c:barChart>
      <c:catAx>
        <c:axId val="116613848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281524432"/>
        <c:crosses val="autoZero"/>
        <c:auto val="1"/>
        <c:lblAlgn val="ctr"/>
        <c:lblOffset val="100"/>
        <c:noMultiLvlLbl val="0"/>
      </c:catAx>
      <c:valAx>
        <c:axId val="1281524432"/>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661384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3-12-23T23:50:52.197" idx="1">
    <p:pos x="7678" y="1"/>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12/26/2023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12/26/2023</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12/26/2023</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12/26/2023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12/26/2023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12/26/2023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12/26/2023</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12/26/2023</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12/26/2023</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12/26/2023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12/26/2023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12/26/2023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12/26/2023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12/26/2023</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cs.google.com/spreadsheets/d/11nziupEyQBqM35wCkFEKkhBH4FvmQsWY/edit?usp=sharing&amp;ouid=106590391011635670285&amp;rtpof=true&amp;sd=true"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7.xml"/><Relationship Id="rId6" Type="http://schemas.openxmlformats.org/officeDocument/2006/relationships/comments" Target="../comments/comment1.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9916" y="1772816"/>
            <a:ext cx="9840271" cy="1243683"/>
          </a:xfrm>
        </p:spPr>
        <p:txBody>
          <a:bodyPr>
            <a:normAutofit fontScale="90000"/>
          </a:bodyPr>
          <a:lstStyle/>
          <a:p>
            <a:pPr>
              <a:lnSpc>
                <a:spcPct val="115000"/>
              </a:lnSpc>
              <a:spcAft>
                <a:spcPts val="300"/>
              </a:spcAft>
            </a:pPr>
            <a:r>
              <a:rPr lang="en-GB" sz="4800" b="1" dirty="0">
                <a:solidFill>
                  <a:schemeClr val="accent1">
                    <a:lumMod val="60000"/>
                    <a:lumOff val="40000"/>
                  </a:schemeClr>
                </a:solidFill>
                <a:effectLst/>
                <a:latin typeface="Bookman Old Style" panose="02050604050505020204" pitchFamily="18" charset="0"/>
                <a:ea typeface="Arial" panose="020B0604020202020204" pitchFamily="34" charset="0"/>
              </a:rPr>
              <a:t>ABC Call Volume Trend Analysis</a:t>
            </a:r>
            <a:endParaRPr lang="en-IN" sz="4800" b="1" dirty="0">
              <a:solidFill>
                <a:schemeClr val="accent1">
                  <a:lumMod val="60000"/>
                  <a:lumOff val="40000"/>
                </a:schemeClr>
              </a:solidFill>
              <a:effectLst/>
              <a:latin typeface="Bookman Old Style" panose="02050604050505020204" pitchFamily="18" charset="0"/>
              <a:ea typeface="Arial" panose="020B0604020202020204" pitchFamily="34" charset="0"/>
            </a:endParaRPr>
          </a:p>
        </p:txBody>
      </p:sp>
      <p:sp>
        <p:nvSpPr>
          <p:cNvPr id="5" name="Subtitle 4"/>
          <p:cNvSpPr>
            <a:spLocks noGrp="1"/>
          </p:cNvSpPr>
          <p:nvPr>
            <p:ph type="subTitle" idx="1"/>
          </p:nvPr>
        </p:nvSpPr>
        <p:spPr>
          <a:xfrm>
            <a:off x="4942284" y="3260338"/>
            <a:ext cx="8735325" cy="1018311"/>
          </a:xfrm>
        </p:spPr>
        <p:txBody>
          <a:bodyPr>
            <a:normAutofit fontScale="77500" lnSpcReduction="20000"/>
          </a:bodyPr>
          <a:lstStyle/>
          <a:p>
            <a:r>
              <a:rPr lang="en-US" dirty="0"/>
              <a:t>(Project – 8)</a:t>
            </a:r>
          </a:p>
          <a:p>
            <a:r>
              <a:rPr lang="en-US" sz="2400" dirty="0"/>
              <a:t>				</a:t>
            </a:r>
          </a:p>
          <a:p>
            <a:endParaRPr lang="en-US" sz="2400" dirty="0"/>
          </a:p>
          <a:p>
            <a:r>
              <a:rPr lang="en-US" sz="2400" dirty="0"/>
              <a:t>				</a:t>
            </a:r>
          </a:p>
        </p:txBody>
      </p:sp>
      <p:sp>
        <p:nvSpPr>
          <p:cNvPr id="3" name="TextBox 2">
            <a:extLst>
              <a:ext uri="{FF2B5EF4-FFF2-40B4-BE49-F238E27FC236}">
                <a16:creationId xmlns:a16="http://schemas.microsoft.com/office/drawing/2014/main" id="{1B5F3B90-60EA-7420-D66C-4558E21E593A}"/>
              </a:ext>
            </a:extLst>
          </p:cNvPr>
          <p:cNvSpPr txBox="1"/>
          <p:nvPr/>
        </p:nvSpPr>
        <p:spPr>
          <a:xfrm>
            <a:off x="27041" y="5445224"/>
            <a:ext cx="4104456" cy="523220"/>
          </a:xfrm>
          <a:prstGeom prst="rect">
            <a:avLst/>
          </a:prstGeom>
          <a:noFill/>
        </p:spPr>
        <p:txBody>
          <a:bodyPr wrap="square" rtlCol="0">
            <a:spAutoFit/>
          </a:bodyPr>
          <a:lstStyle/>
          <a:p>
            <a:r>
              <a:rPr lang="en-US" sz="2800" dirty="0">
                <a:solidFill>
                  <a:schemeClr val="accent1">
                    <a:lumMod val="60000"/>
                    <a:lumOff val="40000"/>
                  </a:schemeClr>
                </a:solidFill>
              </a:rPr>
              <a:t>- BY HITISHA SONI</a:t>
            </a:r>
            <a:endParaRPr lang="en-IN" sz="2800" dirty="0">
              <a:solidFill>
                <a:schemeClr val="accent1">
                  <a:lumMod val="60000"/>
                  <a:lumOff val="40000"/>
                </a:schemeClr>
              </a:solidFill>
            </a:endParaRP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013792" y="44624"/>
            <a:ext cx="10360501" cy="949920"/>
          </a:xfrm>
        </p:spPr>
        <p:txBody>
          <a:bodyPr/>
          <a:lstStyle/>
          <a:p>
            <a:r>
              <a:rPr lang="en-US" b="1" dirty="0">
                <a:solidFill>
                  <a:schemeClr val="accent1">
                    <a:lumMod val="60000"/>
                    <a:lumOff val="40000"/>
                  </a:schemeClr>
                </a:solidFill>
                <a:latin typeface="Bookman Old Style" panose="02050604050505020204" pitchFamily="18" charset="0"/>
              </a:rPr>
              <a:t>Project Description :-</a:t>
            </a:r>
          </a:p>
        </p:txBody>
      </p:sp>
      <p:sp>
        <p:nvSpPr>
          <p:cNvPr id="14" name="Content Placeholder 13"/>
          <p:cNvSpPr>
            <a:spLocks noGrp="1"/>
          </p:cNvSpPr>
          <p:nvPr>
            <p:ph idx="1"/>
          </p:nvPr>
        </p:nvSpPr>
        <p:spPr>
          <a:xfrm>
            <a:off x="1125860" y="1210568"/>
            <a:ext cx="10729192" cy="5602808"/>
          </a:xfrm>
        </p:spPr>
        <p:txBody>
          <a:bodyPr>
            <a:normAutofit/>
          </a:bodyPr>
          <a:lstStyle/>
          <a:p>
            <a:pPr>
              <a:lnSpc>
                <a:spcPct val="115000"/>
              </a:lnSpc>
            </a:pPr>
            <a:r>
              <a:rPr lang="en-US" sz="2000" b="0" i="0" dirty="0">
                <a:effectLst/>
                <a:latin typeface="Bookman Old Style" panose="02050604050505020204" pitchFamily="18" charset="0"/>
              </a:rPr>
              <a:t>In this project, you'll be diving into the world of Customer Experience (CX) analytics, specifically focusing on the inbound calling team of a company. You'll be provided with a dataset that spans 23 days.</a:t>
            </a:r>
          </a:p>
          <a:p>
            <a:pPr>
              <a:lnSpc>
                <a:spcPct val="115000"/>
              </a:lnSpc>
            </a:pPr>
            <a:r>
              <a:rPr lang="en-US" sz="2000" b="0" i="0" dirty="0">
                <a:effectLst/>
                <a:latin typeface="Bookman Old Style" panose="02050604050505020204" pitchFamily="18" charset="0"/>
              </a:rPr>
              <a:t>A Customer Experience (CX) team plays a crucial role in a company. They analyze customer feedback and data, derive insights from it, and share these insights with the rest of the organization. This team is responsible for a wide range of tasks, including managing customer experience programs, handling internal communications, mapping customer journeys, and managing customer data, among others.</a:t>
            </a:r>
          </a:p>
          <a:p>
            <a:pPr>
              <a:lnSpc>
                <a:spcPct val="115000"/>
              </a:lnSpc>
            </a:pPr>
            <a:r>
              <a:rPr lang="en-US" sz="2000" b="0" i="0" dirty="0">
                <a:effectLst/>
                <a:latin typeface="Bookman Old Style" panose="02050604050505020204" pitchFamily="18" charset="0"/>
              </a:rPr>
              <a:t>Inbound customer support, which is the focus of this project, involves handling incoming calls from existing or prospective customers. The goal is to attract, engage, and delight customers, turning them into loyal advocates for the business.</a:t>
            </a:r>
            <a:endParaRPr lang="en-IN" sz="2400" dirty="0">
              <a:effectLst/>
              <a:latin typeface="Bookman Old Style" panose="02050604050505020204" pitchFamily="18" charset="0"/>
              <a:ea typeface="Arial" panose="020B0604020202020204" pitchFamily="34" charset="0"/>
            </a:endParaRP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884" y="38327"/>
            <a:ext cx="10360501" cy="949920"/>
          </a:xfrm>
        </p:spPr>
        <p:txBody>
          <a:bodyPr/>
          <a:lstStyle/>
          <a:p>
            <a:r>
              <a:rPr lang="en-US" b="1" dirty="0">
                <a:solidFill>
                  <a:schemeClr val="accent1">
                    <a:lumMod val="60000"/>
                    <a:lumOff val="40000"/>
                  </a:schemeClr>
                </a:solidFill>
                <a:latin typeface="Bookman Old Style" panose="02050604050505020204" pitchFamily="18" charset="0"/>
              </a:rPr>
              <a:t>Approach :-</a:t>
            </a:r>
          </a:p>
        </p:txBody>
      </p:sp>
      <p:sp>
        <p:nvSpPr>
          <p:cNvPr id="14" name="Content Placeholder 13"/>
          <p:cNvSpPr>
            <a:spLocks noGrp="1"/>
          </p:cNvSpPr>
          <p:nvPr>
            <p:ph idx="1"/>
          </p:nvPr>
        </p:nvSpPr>
        <p:spPr>
          <a:xfrm>
            <a:off x="1360301" y="1196752"/>
            <a:ext cx="10585176" cy="5400600"/>
          </a:xfrm>
        </p:spPr>
        <p:txBody>
          <a:bodyPr>
            <a:normAutofit fontScale="92500" lnSpcReduction="10000"/>
          </a:bodyPr>
          <a:lstStyle/>
          <a:p>
            <a:pPr>
              <a:lnSpc>
                <a:spcPct val="170000"/>
              </a:lnSpc>
            </a:pPr>
            <a:r>
              <a:rPr lang="en-US" sz="2600" b="0" i="0" dirty="0">
                <a:effectLst/>
                <a:latin typeface="Bookman Old Style" panose="02050604050505020204" pitchFamily="18" charset="0"/>
              </a:rPr>
              <a:t>We have given a 1 dataset containing </a:t>
            </a:r>
            <a:r>
              <a:rPr lang="en-US" sz="2600" dirty="0">
                <a:latin typeface="Bookman Old Style" panose="02050604050505020204" pitchFamily="18" charset="0"/>
              </a:rPr>
              <a:t>1,17,988</a:t>
            </a:r>
            <a:r>
              <a:rPr lang="en-US" sz="2600" b="0" i="0" dirty="0">
                <a:effectLst/>
                <a:latin typeface="Bookman Old Style" panose="02050604050505020204" pitchFamily="18" charset="0"/>
              </a:rPr>
              <a:t> rows.</a:t>
            </a:r>
          </a:p>
          <a:p>
            <a:pPr>
              <a:lnSpc>
                <a:spcPct val="170000"/>
              </a:lnSpc>
            </a:pPr>
            <a:r>
              <a:rPr lang="en-US" sz="2600" dirty="0" err="1">
                <a:latin typeface="Bookman Old Style" panose="02050604050505020204" pitchFamily="18" charset="0"/>
              </a:rPr>
              <a:t>Call_Data</a:t>
            </a:r>
            <a:endParaRPr lang="en-US" sz="2600" dirty="0">
              <a:latin typeface="Bookman Old Style" panose="02050604050505020204" pitchFamily="18" charset="0"/>
            </a:endParaRPr>
          </a:p>
          <a:p>
            <a:pPr>
              <a:lnSpc>
                <a:spcPct val="170000"/>
              </a:lnSpc>
            </a:pPr>
            <a:r>
              <a:rPr lang="en-US" sz="2400" dirty="0">
                <a:latin typeface="Bookman Old Style" panose="02050604050505020204" pitchFamily="18" charset="0"/>
              </a:rPr>
              <a:t>Few columns are not important for analysis like:</a:t>
            </a:r>
          </a:p>
          <a:p>
            <a:pPr>
              <a:lnSpc>
                <a:spcPct val="170000"/>
              </a:lnSpc>
              <a:buFont typeface="Wingdings" panose="05000000000000000000" pitchFamily="2" charset="2"/>
              <a:buChar char="q"/>
            </a:pPr>
            <a:r>
              <a:rPr lang="en-US" sz="1700" dirty="0" err="1">
                <a:latin typeface="Bookman Old Style" panose="02050604050505020204" pitchFamily="18" charset="0"/>
              </a:rPr>
              <a:t>Agent_Name</a:t>
            </a:r>
            <a:endParaRPr lang="en-US" sz="1700" dirty="0">
              <a:latin typeface="Bookman Old Style" panose="02050604050505020204" pitchFamily="18" charset="0"/>
            </a:endParaRPr>
          </a:p>
          <a:p>
            <a:pPr>
              <a:lnSpc>
                <a:spcPct val="170000"/>
              </a:lnSpc>
              <a:buFont typeface="Wingdings" panose="05000000000000000000" pitchFamily="2" charset="2"/>
              <a:buChar char="q"/>
            </a:pPr>
            <a:r>
              <a:rPr lang="en-US" sz="1700" dirty="0" err="1">
                <a:latin typeface="Bookman Old Style" panose="02050604050505020204" pitchFamily="18" charset="0"/>
              </a:rPr>
              <a:t>Agent_ID</a:t>
            </a:r>
            <a:endParaRPr lang="en-US" sz="1700" dirty="0">
              <a:latin typeface="Bookman Old Style" panose="02050604050505020204" pitchFamily="18" charset="0"/>
            </a:endParaRPr>
          </a:p>
          <a:p>
            <a:pPr>
              <a:lnSpc>
                <a:spcPct val="170000"/>
              </a:lnSpc>
              <a:buFont typeface="Wingdings" panose="05000000000000000000" pitchFamily="2" charset="2"/>
              <a:buChar char="q"/>
            </a:pPr>
            <a:r>
              <a:rPr lang="en-US" sz="1700" dirty="0" err="1">
                <a:latin typeface="Bookman Old Style" panose="02050604050505020204" pitchFamily="18" charset="0"/>
              </a:rPr>
              <a:t>Wrapped_By</a:t>
            </a:r>
            <a:endParaRPr lang="en-US" sz="1700" dirty="0">
              <a:latin typeface="Bookman Old Style" panose="02050604050505020204" pitchFamily="18" charset="0"/>
            </a:endParaRPr>
          </a:p>
          <a:p>
            <a:pPr>
              <a:lnSpc>
                <a:spcPct val="170000"/>
              </a:lnSpc>
              <a:buFont typeface="Wingdings" panose="05000000000000000000" pitchFamily="2" charset="2"/>
              <a:buChar char="q"/>
            </a:pPr>
            <a:r>
              <a:rPr lang="en-US" sz="1700" dirty="0">
                <a:latin typeface="Bookman Old Style" panose="02050604050505020204" pitchFamily="18" charset="0"/>
              </a:rPr>
              <a:t>Ringing</a:t>
            </a:r>
          </a:p>
          <a:p>
            <a:pPr>
              <a:lnSpc>
                <a:spcPct val="170000"/>
              </a:lnSpc>
              <a:buFont typeface="Wingdings" panose="05000000000000000000" pitchFamily="2" charset="2"/>
              <a:buChar char="q"/>
            </a:pPr>
            <a:r>
              <a:rPr lang="en-US" sz="1700" dirty="0" err="1">
                <a:latin typeface="Bookman Old Style" panose="02050604050505020204" pitchFamily="18" charset="0"/>
              </a:rPr>
              <a:t>IVR_Duration</a:t>
            </a:r>
            <a:endParaRPr lang="en-US" sz="1700" dirty="0">
              <a:latin typeface="Bookman Old Style" panose="02050604050505020204" pitchFamily="18" charset="0"/>
            </a:endParaRPr>
          </a:p>
          <a:p>
            <a:pPr marL="0" indent="0">
              <a:lnSpc>
                <a:spcPct val="170000"/>
              </a:lnSpc>
              <a:buNone/>
            </a:pPr>
            <a:endParaRPr lang="en-US" sz="2400" dirty="0">
              <a:latin typeface="Bookman Old Style" panose="02050604050505020204" pitchFamily="18" charset="0"/>
            </a:endParaRPr>
          </a:p>
          <a:p>
            <a:pPr marL="0" indent="0">
              <a:lnSpc>
                <a:spcPct val="170000"/>
              </a:lnSpc>
              <a:buNone/>
            </a:pPr>
            <a:endParaRPr lang="en-US" sz="2400" dirty="0">
              <a:latin typeface="Bookman Old Style" panose="02050604050505020204" pitchFamily="18" charset="0"/>
            </a:endParaRPr>
          </a:p>
        </p:txBody>
      </p:sp>
    </p:spTree>
    <p:extLst>
      <p:ext uri="{BB962C8B-B14F-4D97-AF65-F5344CB8AC3E}">
        <p14:creationId xmlns:p14="http://schemas.microsoft.com/office/powerpoint/2010/main" val="207273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091157" y="260648"/>
            <a:ext cx="10360501" cy="949920"/>
          </a:xfrm>
        </p:spPr>
        <p:txBody>
          <a:bodyPr/>
          <a:lstStyle/>
          <a:p>
            <a:r>
              <a:rPr lang="en-IN" b="1" i="0" dirty="0">
                <a:solidFill>
                  <a:schemeClr val="accent1">
                    <a:lumMod val="60000"/>
                    <a:lumOff val="40000"/>
                  </a:schemeClr>
                </a:solidFill>
                <a:effectLst/>
                <a:latin typeface="Bookman Old Style" panose="02050604050505020204" pitchFamily="18" charset="0"/>
              </a:rPr>
              <a:t>Tech-Stack Used</a:t>
            </a:r>
            <a:r>
              <a:rPr lang="en-US" b="1" dirty="0">
                <a:solidFill>
                  <a:schemeClr val="accent1">
                    <a:lumMod val="60000"/>
                    <a:lumOff val="40000"/>
                  </a:schemeClr>
                </a:solidFill>
                <a:latin typeface="Bookman Old Style" panose="02050604050505020204" pitchFamily="18" charset="0"/>
              </a:rPr>
              <a:t>:-</a:t>
            </a:r>
          </a:p>
        </p:txBody>
      </p:sp>
      <p:pic>
        <p:nvPicPr>
          <p:cNvPr id="7" name="Content Placeholder 6">
            <a:extLst>
              <a:ext uri="{FF2B5EF4-FFF2-40B4-BE49-F238E27FC236}">
                <a16:creationId xmlns:a16="http://schemas.microsoft.com/office/drawing/2014/main" id="{557EAD79-F77A-58D5-602C-51192FA757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2004" y="1340768"/>
            <a:ext cx="8928992" cy="5347764"/>
          </a:xfrm>
        </p:spPr>
      </p:pic>
    </p:spTree>
    <p:extLst>
      <p:ext uri="{BB962C8B-B14F-4D97-AF65-F5344CB8AC3E}">
        <p14:creationId xmlns:p14="http://schemas.microsoft.com/office/powerpoint/2010/main" val="2598929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4052" y="1196752"/>
            <a:ext cx="6935125" cy="1243683"/>
          </a:xfrm>
        </p:spPr>
        <p:txBody>
          <a:bodyPr>
            <a:normAutofit/>
          </a:bodyPr>
          <a:lstStyle/>
          <a:p>
            <a:pPr algn="ctr"/>
            <a:r>
              <a:rPr lang="en-IN" b="1" i="0" dirty="0">
                <a:solidFill>
                  <a:schemeClr val="accent1">
                    <a:lumMod val="60000"/>
                    <a:lumOff val="40000"/>
                  </a:schemeClr>
                </a:solidFill>
                <a:effectLst/>
                <a:latin typeface="Bookman Old Style" panose="02050604050505020204" pitchFamily="18" charset="0"/>
              </a:rPr>
              <a:t>Tasks:</a:t>
            </a:r>
          </a:p>
        </p:txBody>
      </p:sp>
      <p:sp>
        <p:nvSpPr>
          <p:cNvPr id="3" name="TextBox 2">
            <a:extLst>
              <a:ext uri="{FF2B5EF4-FFF2-40B4-BE49-F238E27FC236}">
                <a16:creationId xmlns:a16="http://schemas.microsoft.com/office/drawing/2014/main" id="{986E7B48-6A54-0272-9E79-7437928AD5DC}"/>
              </a:ext>
            </a:extLst>
          </p:cNvPr>
          <p:cNvSpPr txBox="1"/>
          <p:nvPr/>
        </p:nvSpPr>
        <p:spPr>
          <a:xfrm>
            <a:off x="3142084" y="2921168"/>
            <a:ext cx="8568952" cy="1015663"/>
          </a:xfrm>
          <a:prstGeom prst="rect">
            <a:avLst/>
          </a:prstGeom>
          <a:noFill/>
        </p:spPr>
        <p:txBody>
          <a:bodyPr wrap="square" rtlCol="0">
            <a:spAutoFit/>
          </a:bodyPr>
          <a:lstStyle/>
          <a:p>
            <a:r>
              <a:rPr lang="en-IN" sz="6000" b="1" dirty="0">
                <a:solidFill>
                  <a:srgbClr val="FF0000"/>
                </a:solidFill>
                <a:highlight>
                  <a:srgbClr val="FFFF00"/>
                </a:highlight>
                <a:hlinkClick r:id="rId2">
                  <a:extLst>
                    <a:ext uri="{A12FA001-AC4F-418D-AE19-62706E023703}">
                      <ahyp:hlinkClr xmlns:ahyp="http://schemas.microsoft.com/office/drawing/2018/hyperlinkcolor" val="tx"/>
                    </a:ext>
                  </a:extLst>
                </a:hlinkClick>
              </a:rPr>
              <a:t>Link to Excel Sheet</a:t>
            </a:r>
            <a:endParaRPr lang="en-IN" sz="6000" b="1" dirty="0">
              <a:solidFill>
                <a:srgbClr val="FF0000"/>
              </a:solidFill>
              <a:highlight>
                <a:srgbClr val="FFFF00"/>
              </a:highlight>
            </a:endParaRPr>
          </a:p>
        </p:txBody>
      </p:sp>
    </p:spTree>
    <p:extLst>
      <p:ext uri="{BB962C8B-B14F-4D97-AF65-F5344CB8AC3E}">
        <p14:creationId xmlns:p14="http://schemas.microsoft.com/office/powerpoint/2010/main" val="299485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1052736"/>
            <a:ext cx="10657184" cy="3240360"/>
          </a:xfrm>
        </p:spPr>
        <p:txBody>
          <a:bodyPr>
            <a:noAutofit/>
          </a:bodyPr>
          <a:lstStyle/>
          <a:p>
            <a:pPr marL="0" indent="0">
              <a:buNone/>
            </a:pPr>
            <a:r>
              <a:rPr lang="en-US" sz="3200" b="1" i="0" dirty="0">
                <a:solidFill>
                  <a:schemeClr val="accent1">
                    <a:lumMod val="60000"/>
                    <a:lumOff val="40000"/>
                  </a:schemeClr>
                </a:solidFill>
                <a:effectLst/>
              </a:rPr>
              <a:t>1. Average Call Duration:</a:t>
            </a:r>
            <a:r>
              <a:rPr lang="en-US" sz="3200" b="0" i="0" dirty="0">
                <a:solidFill>
                  <a:schemeClr val="accent1">
                    <a:lumMod val="60000"/>
                    <a:lumOff val="40000"/>
                  </a:schemeClr>
                </a:solidFill>
                <a:effectLst/>
              </a:rPr>
              <a:t> </a:t>
            </a:r>
            <a:r>
              <a:rPr lang="en-US" sz="3200" b="0" i="0" dirty="0">
                <a:effectLst/>
              </a:rPr>
              <a:t>Determine the average duration of all incoming calls received by agents. This should be calculated for each time bucket.</a:t>
            </a:r>
          </a:p>
          <a:p>
            <a:pPr algn="l">
              <a:buFont typeface="+mj-lt"/>
              <a:buAutoNum type="arabicPeriod"/>
            </a:pPr>
            <a:endParaRPr lang="en-US" sz="3200" dirty="0">
              <a:solidFill>
                <a:schemeClr val="accent1">
                  <a:lumMod val="60000"/>
                  <a:lumOff val="40000"/>
                </a:schemeClr>
              </a:solidFill>
            </a:endParaRPr>
          </a:p>
          <a:p>
            <a:pPr marL="0" indent="0" algn="l">
              <a:buNone/>
            </a:pPr>
            <a:r>
              <a:rPr lang="en-US" sz="3200" b="1" i="0" dirty="0">
                <a:solidFill>
                  <a:schemeClr val="accent1">
                    <a:lumMod val="60000"/>
                    <a:lumOff val="40000"/>
                  </a:schemeClr>
                </a:solidFill>
                <a:effectLst/>
              </a:rPr>
              <a:t>Your Task:</a:t>
            </a:r>
            <a:r>
              <a:rPr lang="en-US" sz="3200" b="0" i="0" dirty="0">
                <a:solidFill>
                  <a:schemeClr val="accent1">
                    <a:lumMod val="60000"/>
                    <a:lumOff val="40000"/>
                  </a:schemeClr>
                </a:solidFill>
                <a:effectLst/>
              </a:rPr>
              <a:t> </a:t>
            </a:r>
            <a:r>
              <a:rPr lang="en-US" sz="3200" b="0" i="0" dirty="0">
                <a:effectLst/>
              </a:rPr>
              <a:t>What is the average duration of calls for each time bucket?</a:t>
            </a:r>
          </a:p>
        </p:txBody>
      </p:sp>
    </p:spTree>
    <p:extLst>
      <p:ext uri="{BB962C8B-B14F-4D97-AF65-F5344CB8AC3E}">
        <p14:creationId xmlns:p14="http://schemas.microsoft.com/office/powerpoint/2010/main" val="221254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22497843-B92C-2B38-F1E5-FFB479F5B653}"/>
              </a:ext>
            </a:extLst>
          </p:cNvPr>
          <p:cNvGraphicFramePr>
            <a:graphicFrameLocks/>
          </p:cNvGraphicFramePr>
          <p:nvPr>
            <p:extLst>
              <p:ext uri="{D42A27DB-BD31-4B8C-83A1-F6EECF244321}">
                <p14:modId xmlns:p14="http://schemas.microsoft.com/office/powerpoint/2010/main" val="4249391720"/>
              </p:ext>
            </p:extLst>
          </p:nvPr>
        </p:nvGraphicFramePr>
        <p:xfrm>
          <a:off x="1557908" y="764704"/>
          <a:ext cx="9073008" cy="55446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1268760"/>
            <a:ext cx="10657184" cy="4176464"/>
          </a:xfrm>
        </p:spPr>
        <p:txBody>
          <a:bodyPr>
            <a:noAutofit/>
          </a:bodyPr>
          <a:lstStyle/>
          <a:p>
            <a:pPr marL="0" indent="0" algn="l">
              <a:buNone/>
            </a:pPr>
            <a:r>
              <a:rPr lang="en-US" sz="3200" b="1" i="0" dirty="0">
                <a:solidFill>
                  <a:schemeClr val="accent1">
                    <a:lumMod val="60000"/>
                    <a:lumOff val="40000"/>
                  </a:schemeClr>
                </a:solidFill>
                <a:effectLst/>
              </a:rPr>
              <a:t>2. Call Volume Analysis:</a:t>
            </a:r>
            <a:r>
              <a:rPr lang="en-US" sz="3200" b="0" i="0" dirty="0">
                <a:solidFill>
                  <a:schemeClr val="accent1">
                    <a:lumMod val="60000"/>
                    <a:lumOff val="40000"/>
                  </a:schemeClr>
                </a:solidFill>
                <a:effectLst/>
              </a:rPr>
              <a:t> </a:t>
            </a:r>
            <a:r>
              <a:rPr lang="en-US" sz="3200" b="0" i="0" dirty="0">
                <a:effectLst/>
              </a:rPr>
              <a:t>Visualize the total number of calls received. This should be represented as a graph or chart showing the number of calls against time. Time should be represented in buckets (e.g., 1-2, 2-3, etc.).</a:t>
            </a:r>
          </a:p>
          <a:p>
            <a:pPr marL="0" indent="0" algn="l">
              <a:buNone/>
            </a:pPr>
            <a:endParaRPr lang="en-US" sz="3200" b="0" i="0" dirty="0">
              <a:effectLst/>
            </a:endParaRPr>
          </a:p>
          <a:p>
            <a:pPr marL="0" indent="0" algn="l">
              <a:buNone/>
            </a:pPr>
            <a:r>
              <a:rPr lang="en-US" sz="3200" b="1" i="0" dirty="0">
                <a:solidFill>
                  <a:schemeClr val="accent1">
                    <a:lumMod val="60000"/>
                    <a:lumOff val="40000"/>
                  </a:schemeClr>
                </a:solidFill>
                <a:effectLst/>
              </a:rPr>
              <a:t>Your Task:</a:t>
            </a:r>
            <a:r>
              <a:rPr lang="en-US" sz="3200" b="0" i="0" dirty="0">
                <a:solidFill>
                  <a:schemeClr val="accent1">
                    <a:lumMod val="60000"/>
                    <a:lumOff val="40000"/>
                  </a:schemeClr>
                </a:solidFill>
                <a:effectLst/>
              </a:rPr>
              <a:t> </a:t>
            </a:r>
            <a:r>
              <a:rPr lang="en-US" sz="3200" b="0" i="0" dirty="0">
                <a:effectLst/>
              </a:rPr>
              <a:t>Can you create a chart or graph that shows the number of calls received in each time bucket?</a:t>
            </a:r>
          </a:p>
          <a:p>
            <a:pPr marL="0" indent="0">
              <a:lnSpc>
                <a:spcPct val="100000"/>
              </a:lnSpc>
              <a:buNone/>
            </a:pPr>
            <a:endParaRPr lang="en-US" sz="4000" b="0" i="0" dirty="0">
              <a:effectLst/>
            </a:endParaRPr>
          </a:p>
        </p:txBody>
      </p:sp>
    </p:spTree>
    <p:extLst>
      <p:ext uri="{BB962C8B-B14F-4D97-AF65-F5344CB8AC3E}">
        <p14:creationId xmlns:p14="http://schemas.microsoft.com/office/powerpoint/2010/main" val="3567004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623F3FED-E64A-A5B9-9F5D-B0E849C5681A}"/>
              </a:ext>
            </a:extLst>
          </p:cNvPr>
          <p:cNvGraphicFramePr>
            <a:graphicFrameLocks/>
          </p:cNvGraphicFramePr>
          <p:nvPr>
            <p:extLst>
              <p:ext uri="{D42A27DB-BD31-4B8C-83A1-F6EECF244321}">
                <p14:modId xmlns:p14="http://schemas.microsoft.com/office/powerpoint/2010/main" val="1272884849"/>
              </p:ext>
            </p:extLst>
          </p:nvPr>
        </p:nvGraphicFramePr>
        <p:xfrm>
          <a:off x="2566020" y="476672"/>
          <a:ext cx="7848872" cy="590465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9570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1052736"/>
            <a:ext cx="10657184" cy="5256584"/>
          </a:xfrm>
        </p:spPr>
        <p:txBody>
          <a:bodyPr>
            <a:noAutofit/>
          </a:bodyPr>
          <a:lstStyle/>
          <a:p>
            <a:pPr marL="0" indent="0" algn="l">
              <a:buNone/>
            </a:pPr>
            <a:r>
              <a:rPr lang="en-US" sz="3000" b="1" i="0" dirty="0">
                <a:solidFill>
                  <a:schemeClr val="accent1">
                    <a:lumMod val="60000"/>
                    <a:lumOff val="40000"/>
                  </a:schemeClr>
                </a:solidFill>
                <a:effectLst/>
              </a:rPr>
              <a:t>3. Manpower Planning:</a:t>
            </a:r>
            <a:r>
              <a:rPr lang="en-US" sz="3000" b="0" i="0" dirty="0">
                <a:solidFill>
                  <a:schemeClr val="accent1">
                    <a:lumMod val="60000"/>
                    <a:lumOff val="40000"/>
                  </a:schemeClr>
                </a:solidFill>
                <a:effectLst/>
              </a:rPr>
              <a:t> </a:t>
            </a:r>
            <a:r>
              <a:rPr lang="en-US" sz="3000" b="0" i="0" dirty="0">
                <a:effectLst/>
              </a:rPr>
              <a:t>The current rate of abandoned calls is approximately 30%. Propose a plan for manpower allocation during each time bucket (from 9 am to 9 pm) to reduce the abandon rate to 10%. In other words, you need to calculate the minimum number of agents required in each time bucket to ensure that at least 90 out of 100 calls are answered.</a:t>
            </a:r>
          </a:p>
          <a:p>
            <a:pPr marL="0" indent="0" algn="l">
              <a:buNone/>
            </a:pPr>
            <a:endParaRPr lang="en-US" sz="3000" dirty="0"/>
          </a:p>
          <a:p>
            <a:pPr marL="0" indent="0" algn="l">
              <a:buNone/>
            </a:pPr>
            <a:r>
              <a:rPr lang="en-US" sz="3000" b="1" i="0" dirty="0">
                <a:solidFill>
                  <a:schemeClr val="accent1">
                    <a:lumMod val="60000"/>
                    <a:lumOff val="40000"/>
                  </a:schemeClr>
                </a:solidFill>
                <a:effectLst/>
              </a:rPr>
              <a:t>Your Task:</a:t>
            </a:r>
            <a:r>
              <a:rPr lang="en-US" sz="3000" b="0" i="0" dirty="0">
                <a:solidFill>
                  <a:schemeClr val="accent1">
                    <a:lumMod val="60000"/>
                    <a:lumOff val="40000"/>
                  </a:schemeClr>
                </a:solidFill>
                <a:effectLst/>
              </a:rPr>
              <a:t> </a:t>
            </a:r>
            <a:r>
              <a:rPr lang="en-US" sz="3000" b="0" i="0" dirty="0">
                <a:effectLst/>
              </a:rPr>
              <a:t>What is the minimum number of agents required in each time bucket to reduce the abandon rate to 10%?</a:t>
            </a:r>
          </a:p>
        </p:txBody>
      </p:sp>
    </p:spTree>
    <p:extLst>
      <p:ext uri="{BB962C8B-B14F-4D97-AF65-F5344CB8AC3E}">
        <p14:creationId xmlns:p14="http://schemas.microsoft.com/office/powerpoint/2010/main" val="186259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76B9E6D-CB30-F1DA-DEF2-920B6A78DD8A}"/>
              </a:ext>
            </a:extLst>
          </p:cNvPr>
          <p:cNvGrpSpPr/>
          <p:nvPr/>
        </p:nvGrpSpPr>
        <p:grpSpPr>
          <a:xfrm>
            <a:off x="1341884" y="116632"/>
            <a:ext cx="9969674" cy="6728525"/>
            <a:chOff x="1341884" y="116632"/>
            <a:chExt cx="9969674" cy="6728525"/>
          </a:xfrm>
        </p:grpSpPr>
        <p:pic>
          <p:nvPicPr>
            <p:cNvPr id="6" name="Picture 5">
              <a:extLst>
                <a:ext uri="{FF2B5EF4-FFF2-40B4-BE49-F238E27FC236}">
                  <a16:creationId xmlns:a16="http://schemas.microsoft.com/office/drawing/2014/main" id="{6671BFC3-0F4B-5246-ECEC-51BEFE7EB682}"/>
                </a:ext>
              </a:extLst>
            </p:cNvPr>
            <p:cNvPicPr>
              <a:picLocks noChangeAspect="1"/>
            </p:cNvPicPr>
            <p:nvPr/>
          </p:nvPicPr>
          <p:blipFill rotWithShape="1">
            <a:blip r:embed="rId2">
              <a:extLst>
                <a:ext uri="{28A0092B-C50C-407E-A947-70E740481C1C}">
                  <a14:useLocalDpi xmlns:a14="http://schemas.microsoft.com/office/drawing/2010/main" val="0"/>
                </a:ext>
              </a:extLst>
            </a:blip>
            <a:srcRect l="19871" t="38447" r="52363" b="19542"/>
            <a:stretch/>
          </p:blipFill>
          <p:spPr>
            <a:xfrm>
              <a:off x="3934171" y="144975"/>
              <a:ext cx="3384377" cy="2880321"/>
            </a:xfrm>
            <a:prstGeom prst="rect">
              <a:avLst/>
            </a:prstGeom>
          </p:spPr>
        </p:pic>
        <p:pic>
          <p:nvPicPr>
            <p:cNvPr id="7" name="Picture 6">
              <a:extLst>
                <a:ext uri="{FF2B5EF4-FFF2-40B4-BE49-F238E27FC236}">
                  <a16:creationId xmlns:a16="http://schemas.microsoft.com/office/drawing/2014/main" id="{151CD295-F25D-AEA4-1972-88A52DC8876E}"/>
                </a:ext>
              </a:extLst>
            </p:cNvPr>
            <p:cNvPicPr>
              <a:picLocks noChangeAspect="1"/>
            </p:cNvPicPr>
            <p:nvPr/>
          </p:nvPicPr>
          <p:blipFill rotWithShape="1">
            <a:blip r:embed="rId2">
              <a:extLst>
                <a:ext uri="{28A0092B-C50C-407E-A947-70E740481C1C}">
                  <a14:useLocalDpi xmlns:a14="http://schemas.microsoft.com/office/drawing/2010/main" val="0"/>
                </a:ext>
              </a:extLst>
            </a:blip>
            <a:srcRect l="64986" t="38043" r="27924" b="19946"/>
            <a:stretch/>
          </p:blipFill>
          <p:spPr>
            <a:xfrm>
              <a:off x="7318547" y="116632"/>
              <a:ext cx="872599" cy="2908664"/>
            </a:xfrm>
            <a:prstGeom prst="rect">
              <a:avLst/>
            </a:prstGeom>
          </p:spPr>
        </p:pic>
        <p:graphicFrame>
          <p:nvGraphicFramePr>
            <p:cNvPr id="4" name="Chart 3">
              <a:extLst>
                <a:ext uri="{FF2B5EF4-FFF2-40B4-BE49-F238E27FC236}">
                  <a16:creationId xmlns:a16="http://schemas.microsoft.com/office/drawing/2014/main" id="{05F200C1-0794-3A80-C347-48FD5D16B03B}"/>
                </a:ext>
              </a:extLst>
            </p:cNvPr>
            <p:cNvGraphicFramePr>
              <a:graphicFrameLocks/>
            </p:cNvGraphicFramePr>
            <p:nvPr>
              <p:extLst>
                <p:ext uri="{D42A27DB-BD31-4B8C-83A1-F6EECF244321}">
                  <p14:modId xmlns:p14="http://schemas.microsoft.com/office/powerpoint/2010/main" val="2982663147"/>
                </p:ext>
              </p:extLst>
            </p:nvPr>
          </p:nvGraphicFramePr>
          <p:xfrm>
            <a:off x="1341884" y="2924944"/>
            <a:ext cx="9969674" cy="3920213"/>
          </p:xfrm>
          <a:graphic>
            <a:graphicData uri="http://schemas.openxmlformats.org/drawingml/2006/chart">
              <c:chart xmlns:c="http://schemas.openxmlformats.org/drawingml/2006/chart" xmlns:r="http://schemas.openxmlformats.org/officeDocument/2006/relationships" r:id="rId3"/>
            </a:graphicData>
          </a:graphic>
        </p:graphicFrame>
      </p:grpSp>
    </p:spTree>
    <p:extLst>
      <p:ext uri="{BB962C8B-B14F-4D97-AF65-F5344CB8AC3E}">
        <p14:creationId xmlns:p14="http://schemas.microsoft.com/office/powerpoint/2010/main" val="423766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197868" y="1124744"/>
            <a:ext cx="10441160" cy="4608512"/>
          </a:xfrm>
        </p:spPr>
        <p:txBody>
          <a:bodyPr>
            <a:normAutofit/>
          </a:bodyPr>
          <a:lstStyle/>
          <a:p>
            <a:pPr marL="0" indent="0" algn="l">
              <a:buNone/>
            </a:pPr>
            <a:r>
              <a:rPr lang="en-US" sz="3000" b="1" i="0" dirty="0">
                <a:solidFill>
                  <a:schemeClr val="accent1">
                    <a:lumMod val="60000"/>
                    <a:lumOff val="40000"/>
                  </a:schemeClr>
                </a:solidFill>
                <a:effectLst/>
              </a:rPr>
              <a:t>4. Night Shift Manpower Planning:</a:t>
            </a:r>
            <a:r>
              <a:rPr lang="en-US" sz="3000" b="0" i="0" dirty="0">
                <a:solidFill>
                  <a:schemeClr val="accent1">
                    <a:lumMod val="60000"/>
                    <a:lumOff val="40000"/>
                  </a:schemeClr>
                </a:solidFill>
                <a:effectLst/>
              </a:rPr>
              <a:t> </a:t>
            </a:r>
            <a:r>
              <a:rPr lang="en-US" sz="3000" b="0" i="0" dirty="0">
                <a:effectLst/>
              </a:rPr>
              <a:t>Customers also call ABC Insurance Company at night but don't get an answer because there are no agents available. This creates a poor customer experience. Assume that for every 100 calls that customers make between 9 am and 9 pm, they also make 30 calls at night between 9 pm and 9 am. The distribution of these 30 calls is as follows:</a:t>
            </a:r>
          </a:p>
          <a:p>
            <a:pPr marL="0" indent="0" algn="l">
              <a:buNone/>
            </a:pPr>
            <a:endParaRPr lang="en-US" sz="3000" dirty="0"/>
          </a:p>
          <a:p>
            <a:pPr marL="0" indent="0" algn="l">
              <a:buNone/>
            </a:pPr>
            <a:r>
              <a:rPr lang="en-US" sz="3000" b="1" i="0" dirty="0">
                <a:solidFill>
                  <a:schemeClr val="accent1">
                    <a:lumMod val="60000"/>
                    <a:lumOff val="40000"/>
                  </a:schemeClr>
                </a:solidFill>
                <a:effectLst/>
              </a:rPr>
              <a:t>Your Task:</a:t>
            </a:r>
            <a:r>
              <a:rPr lang="en-US" sz="3000" b="0" i="0" dirty="0">
                <a:solidFill>
                  <a:schemeClr val="accent1">
                    <a:lumMod val="60000"/>
                    <a:lumOff val="40000"/>
                  </a:schemeClr>
                </a:solidFill>
                <a:effectLst/>
              </a:rPr>
              <a:t> </a:t>
            </a:r>
            <a:r>
              <a:rPr lang="en-US" sz="3000" b="0" i="0" dirty="0">
                <a:effectLst/>
              </a:rPr>
              <a:t>Propose a manpower plan for each time bucket throughout the day, keeping the maximum abandon rate at 10%.</a:t>
            </a:r>
          </a:p>
          <a:p>
            <a:pPr marL="0" indent="0" algn="l">
              <a:buNone/>
            </a:pPr>
            <a:endParaRPr lang="en-US" sz="3000" b="0" i="0" dirty="0">
              <a:effectLst/>
            </a:endParaRPr>
          </a:p>
        </p:txBody>
      </p:sp>
    </p:spTree>
    <p:extLst>
      <p:ext uri="{BB962C8B-B14F-4D97-AF65-F5344CB8AC3E}">
        <p14:creationId xmlns:p14="http://schemas.microsoft.com/office/powerpoint/2010/main" val="330716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8C17B05B-58BA-C0F3-370B-E3D6CD173911}"/>
              </a:ext>
            </a:extLst>
          </p:cNvPr>
          <p:cNvGraphicFramePr>
            <a:graphicFrameLocks/>
          </p:cNvGraphicFramePr>
          <p:nvPr>
            <p:extLst>
              <p:ext uri="{D42A27DB-BD31-4B8C-83A1-F6EECF244321}">
                <p14:modId xmlns:p14="http://schemas.microsoft.com/office/powerpoint/2010/main" val="3906958785"/>
              </p:ext>
            </p:extLst>
          </p:nvPr>
        </p:nvGraphicFramePr>
        <p:xfrm>
          <a:off x="3718148" y="1287426"/>
          <a:ext cx="8784976" cy="55892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Chart 1">
            <a:extLst>
              <a:ext uri="{FF2B5EF4-FFF2-40B4-BE49-F238E27FC236}">
                <a16:creationId xmlns:a16="http://schemas.microsoft.com/office/drawing/2014/main" id="{61A1A356-9B19-23FC-3A2D-1AC59E32C0E6}"/>
              </a:ext>
            </a:extLst>
          </p:cNvPr>
          <p:cNvGraphicFramePr>
            <a:graphicFrameLocks/>
          </p:cNvGraphicFramePr>
          <p:nvPr>
            <p:extLst>
              <p:ext uri="{D42A27DB-BD31-4B8C-83A1-F6EECF244321}">
                <p14:modId xmlns:p14="http://schemas.microsoft.com/office/powerpoint/2010/main" val="806252376"/>
              </p:ext>
            </p:extLst>
          </p:nvPr>
        </p:nvGraphicFramePr>
        <p:xfrm>
          <a:off x="1629916" y="3284984"/>
          <a:ext cx="9552632" cy="3355082"/>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3">
            <a:extLst>
              <a:ext uri="{FF2B5EF4-FFF2-40B4-BE49-F238E27FC236}">
                <a16:creationId xmlns:a16="http://schemas.microsoft.com/office/drawing/2014/main" id="{04E8728B-7FD3-E270-F5AA-D981D3647C52}"/>
              </a:ext>
            </a:extLst>
          </p:cNvPr>
          <p:cNvPicPr>
            <a:picLocks noChangeAspect="1"/>
          </p:cNvPicPr>
          <p:nvPr/>
        </p:nvPicPr>
        <p:blipFill rotWithShape="1">
          <a:blip r:embed="rId4">
            <a:extLst>
              <a:ext uri="{28A0092B-C50C-407E-A947-70E740481C1C}">
                <a14:useLocalDpi xmlns:a14="http://schemas.microsoft.com/office/drawing/2010/main" val="0"/>
              </a:ext>
            </a:extLst>
          </a:blip>
          <a:srcRect l="9827" t="45799" r="48818" b="21643"/>
          <a:stretch/>
        </p:blipFill>
        <p:spPr>
          <a:xfrm>
            <a:off x="909836" y="171301"/>
            <a:ext cx="5040561" cy="2232249"/>
          </a:xfrm>
          <a:prstGeom prst="rect">
            <a:avLst/>
          </a:prstGeom>
        </p:spPr>
      </p:pic>
      <p:pic>
        <p:nvPicPr>
          <p:cNvPr id="8" name="Picture 7">
            <a:extLst>
              <a:ext uri="{FF2B5EF4-FFF2-40B4-BE49-F238E27FC236}">
                <a16:creationId xmlns:a16="http://schemas.microsoft.com/office/drawing/2014/main" id="{28457407-51F0-CA7E-C31A-73C07076B936}"/>
              </a:ext>
            </a:extLst>
          </p:cNvPr>
          <p:cNvPicPr>
            <a:picLocks noChangeAspect="1"/>
          </p:cNvPicPr>
          <p:nvPr/>
        </p:nvPicPr>
        <p:blipFill rotWithShape="1">
          <a:blip r:embed="rId5">
            <a:extLst>
              <a:ext uri="{28A0092B-C50C-407E-A947-70E740481C1C}">
                <a14:useLocalDpi xmlns:a14="http://schemas.microsoft.com/office/drawing/2010/main" val="0"/>
              </a:ext>
            </a:extLst>
          </a:blip>
          <a:srcRect l="22825" t="33196" r="44092" b="28994"/>
          <a:stretch/>
        </p:blipFill>
        <p:spPr>
          <a:xfrm>
            <a:off x="6598469" y="116632"/>
            <a:ext cx="4712736" cy="2898321"/>
          </a:xfrm>
          <a:prstGeom prst="rect">
            <a:avLst/>
          </a:prstGeom>
        </p:spPr>
      </p:pic>
    </p:spTree>
    <p:extLst>
      <p:ext uri="{BB962C8B-B14F-4D97-AF65-F5344CB8AC3E}">
        <p14:creationId xmlns:p14="http://schemas.microsoft.com/office/powerpoint/2010/main" val="3071008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13">
            <a:extLst>
              <a:ext uri="{FF2B5EF4-FFF2-40B4-BE49-F238E27FC236}">
                <a16:creationId xmlns:a16="http://schemas.microsoft.com/office/drawing/2014/main" id="{BE709EF4-EB5E-554F-CA93-F79AF39411B8}"/>
              </a:ext>
            </a:extLst>
          </p:cNvPr>
          <p:cNvSpPr txBox="1">
            <a:spLocks/>
          </p:cNvSpPr>
          <p:nvPr/>
        </p:nvSpPr>
        <p:spPr>
          <a:xfrm>
            <a:off x="1269876" y="423330"/>
            <a:ext cx="10441160" cy="864096"/>
          </a:xfrm>
          <a:prstGeom prst="rect">
            <a:avLst/>
          </a:prstGeom>
        </p:spPr>
        <p:txBody>
          <a:bodyPr>
            <a:norm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indent="0">
              <a:buFont typeface="Arial" pitchFamily="34" charset="0"/>
              <a:buNone/>
            </a:pPr>
            <a:r>
              <a:rPr lang="en-US" sz="3200" b="1" dirty="0">
                <a:solidFill>
                  <a:schemeClr val="accent1">
                    <a:lumMod val="60000"/>
                    <a:lumOff val="40000"/>
                  </a:schemeClr>
                </a:solidFill>
                <a:latin typeface="Bookman Old Style" panose="02050604050505020204" pitchFamily="18" charset="0"/>
              </a:rPr>
              <a:t>Result And Insights:</a:t>
            </a:r>
            <a:endParaRPr lang="en-US" sz="3200" dirty="0">
              <a:latin typeface="Bookman Old Style" panose="02050604050505020204" pitchFamily="18" charset="0"/>
            </a:endParaRPr>
          </a:p>
        </p:txBody>
      </p:sp>
      <p:sp>
        <p:nvSpPr>
          <p:cNvPr id="6" name="Content Placeholder 13">
            <a:extLst>
              <a:ext uri="{FF2B5EF4-FFF2-40B4-BE49-F238E27FC236}">
                <a16:creationId xmlns:a16="http://schemas.microsoft.com/office/drawing/2014/main" id="{36069222-582D-B634-952A-F8FA78FE1406}"/>
              </a:ext>
            </a:extLst>
          </p:cNvPr>
          <p:cNvSpPr txBox="1">
            <a:spLocks/>
          </p:cNvSpPr>
          <p:nvPr/>
        </p:nvSpPr>
        <p:spPr>
          <a:xfrm>
            <a:off x="1360301" y="1196752"/>
            <a:ext cx="10585176" cy="5400600"/>
          </a:xfrm>
          <a:prstGeom prst="rect">
            <a:avLst/>
          </a:prstGeom>
        </p:spPr>
        <p:txBody>
          <a:bodyPr>
            <a:norm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a:lnSpc>
                <a:spcPct val="170000"/>
              </a:lnSpc>
            </a:pPr>
            <a:endParaRPr lang="en-US" sz="2400" dirty="0">
              <a:latin typeface="Bookman Old Style" panose="02050604050505020204" pitchFamily="18" charset="0"/>
            </a:endParaRPr>
          </a:p>
          <a:p>
            <a:pPr marL="0" indent="0">
              <a:lnSpc>
                <a:spcPct val="170000"/>
              </a:lnSpc>
              <a:buFont typeface="Arial" pitchFamily="34" charset="0"/>
              <a:buNone/>
            </a:pPr>
            <a:endParaRPr lang="en-US" sz="2400" dirty="0">
              <a:latin typeface="Bookman Old Style" panose="02050604050505020204" pitchFamily="18" charset="0"/>
            </a:endParaRPr>
          </a:p>
        </p:txBody>
      </p:sp>
      <p:sp>
        <p:nvSpPr>
          <p:cNvPr id="7" name="Content Placeholder 13">
            <a:extLst>
              <a:ext uri="{FF2B5EF4-FFF2-40B4-BE49-F238E27FC236}">
                <a16:creationId xmlns:a16="http://schemas.microsoft.com/office/drawing/2014/main" id="{92A27280-89D6-81BF-4A3E-D52117F6A1A0}"/>
              </a:ext>
            </a:extLst>
          </p:cNvPr>
          <p:cNvSpPr txBox="1">
            <a:spLocks/>
          </p:cNvSpPr>
          <p:nvPr/>
        </p:nvSpPr>
        <p:spPr>
          <a:xfrm>
            <a:off x="1076235" y="1583808"/>
            <a:ext cx="10036353" cy="5248200"/>
          </a:xfrm>
          <a:prstGeom prst="rect">
            <a:avLst/>
          </a:prstGeom>
        </p:spPr>
        <p:txBody>
          <a:bodyPr>
            <a:norm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a:lnSpc>
                <a:spcPct val="170000"/>
              </a:lnSpc>
              <a:buFont typeface="Wingdings" panose="05000000000000000000" pitchFamily="2" charset="2"/>
              <a:buChar char="ü"/>
            </a:pPr>
            <a:r>
              <a:rPr lang="en-US" sz="2400" dirty="0">
                <a:latin typeface="Bookman Old Style" panose="02050604050505020204" pitchFamily="18" charset="0"/>
              </a:rPr>
              <a:t> Average duration of calls in grand total is </a:t>
            </a:r>
            <a:r>
              <a:rPr lang="en-US" sz="2400" dirty="0">
                <a:solidFill>
                  <a:srgbClr val="FFFF00"/>
                </a:solidFill>
                <a:latin typeface="Bookman Old Style" panose="02050604050505020204" pitchFamily="18" charset="0"/>
              </a:rPr>
              <a:t>03:19(</a:t>
            </a:r>
            <a:r>
              <a:rPr lang="en-US" sz="2400" dirty="0" err="1">
                <a:solidFill>
                  <a:srgbClr val="FFFF00"/>
                </a:solidFill>
                <a:latin typeface="Bookman Old Style" panose="02050604050505020204" pitchFamily="18" charset="0"/>
              </a:rPr>
              <a:t>hh:mm:ss</a:t>
            </a:r>
            <a:r>
              <a:rPr lang="en-US" sz="2400" dirty="0">
                <a:solidFill>
                  <a:srgbClr val="FFFF00"/>
                </a:solidFill>
                <a:latin typeface="Bookman Old Style" panose="02050604050505020204" pitchFamily="18" charset="0"/>
              </a:rPr>
              <a:t>) </a:t>
            </a:r>
            <a:r>
              <a:rPr lang="en-US" sz="2400" dirty="0">
                <a:latin typeface="Bookman Old Style" panose="02050604050505020204" pitchFamily="18" charset="0"/>
              </a:rPr>
              <a:t>or </a:t>
            </a:r>
            <a:r>
              <a:rPr lang="en-US" sz="2400" dirty="0">
                <a:solidFill>
                  <a:srgbClr val="FFFF00"/>
                </a:solidFill>
                <a:latin typeface="Bookman Old Style" panose="02050604050505020204" pitchFamily="18" charset="0"/>
              </a:rPr>
              <a:t>199 seconds</a:t>
            </a:r>
            <a:r>
              <a:rPr lang="en-US" sz="2400" dirty="0">
                <a:latin typeface="Bookman Old Style" panose="02050604050505020204" pitchFamily="18" charset="0"/>
              </a:rPr>
              <a:t>.</a:t>
            </a:r>
          </a:p>
          <a:p>
            <a:pPr>
              <a:lnSpc>
                <a:spcPct val="170000"/>
              </a:lnSpc>
              <a:buFont typeface="Wingdings" panose="05000000000000000000" pitchFamily="2" charset="2"/>
              <a:buChar char="ü"/>
            </a:pPr>
            <a:r>
              <a:rPr lang="en-US" sz="2400" dirty="0">
                <a:latin typeface="Bookman Old Style" panose="02050604050505020204" pitchFamily="18" charset="0"/>
              </a:rPr>
              <a:t>Highest no. of calls were between </a:t>
            </a:r>
            <a:r>
              <a:rPr lang="en-US" sz="2400" dirty="0">
                <a:solidFill>
                  <a:srgbClr val="FFFF00"/>
                </a:solidFill>
                <a:latin typeface="Bookman Old Style" panose="02050604050505020204" pitchFamily="18" charset="0"/>
              </a:rPr>
              <a:t>11am-12pm</a:t>
            </a:r>
            <a:r>
              <a:rPr lang="en-US" sz="2400" dirty="0">
                <a:latin typeface="Bookman Old Style" panose="02050604050505020204" pitchFamily="18" charset="0"/>
              </a:rPr>
              <a:t>, that is, </a:t>
            </a:r>
            <a:r>
              <a:rPr lang="en-US" sz="2400" dirty="0">
                <a:solidFill>
                  <a:srgbClr val="FFFF00"/>
                </a:solidFill>
                <a:latin typeface="Bookman Old Style" panose="02050604050505020204" pitchFamily="18" charset="0"/>
              </a:rPr>
              <a:t>14626</a:t>
            </a:r>
            <a:r>
              <a:rPr lang="en-US" sz="2400" dirty="0">
                <a:latin typeface="Bookman Old Style" panose="02050604050505020204" pitchFamily="18" charset="0"/>
              </a:rPr>
              <a:t> which is </a:t>
            </a:r>
            <a:r>
              <a:rPr lang="en-US" sz="2400" dirty="0">
                <a:solidFill>
                  <a:srgbClr val="FFFF00"/>
                </a:solidFill>
                <a:latin typeface="Bookman Old Style" panose="02050604050505020204" pitchFamily="18" charset="0"/>
              </a:rPr>
              <a:t>12.40% </a:t>
            </a:r>
            <a:r>
              <a:rPr lang="en-US" sz="2400" dirty="0">
                <a:latin typeface="Bookman Old Style" panose="02050604050505020204" pitchFamily="18" charset="0"/>
              </a:rPr>
              <a:t>of grand total.</a:t>
            </a:r>
          </a:p>
          <a:p>
            <a:pPr>
              <a:lnSpc>
                <a:spcPct val="170000"/>
              </a:lnSpc>
              <a:buFont typeface="Wingdings" panose="05000000000000000000" pitchFamily="2" charset="2"/>
              <a:buChar char="ü"/>
            </a:pPr>
            <a:r>
              <a:rPr lang="en-US" sz="2400" dirty="0">
                <a:latin typeface="Bookman Old Style" panose="02050604050505020204" pitchFamily="18" charset="0"/>
              </a:rPr>
              <a:t>T</a:t>
            </a:r>
            <a:r>
              <a:rPr lang="en-US" sz="2400" b="0" i="0" dirty="0">
                <a:effectLst/>
                <a:latin typeface="Bookman Old Style" panose="02050604050505020204" pitchFamily="18" charset="0"/>
              </a:rPr>
              <a:t>he minimum number of agents required in Day in each time bucket to reduce the abandon rate to 10% is </a:t>
            </a:r>
            <a:r>
              <a:rPr lang="en-US" sz="2400" b="0" i="0" dirty="0">
                <a:solidFill>
                  <a:srgbClr val="FFFF00"/>
                </a:solidFill>
                <a:effectLst/>
                <a:latin typeface="Bookman Old Style" panose="02050604050505020204" pitchFamily="18" charset="0"/>
              </a:rPr>
              <a:t>54</a:t>
            </a:r>
            <a:r>
              <a:rPr lang="en-US" sz="2400" b="0" i="0" dirty="0">
                <a:effectLst/>
                <a:latin typeface="Bookman Old Style" panose="02050604050505020204" pitchFamily="18" charset="0"/>
              </a:rPr>
              <a:t>.</a:t>
            </a:r>
          </a:p>
          <a:p>
            <a:pPr>
              <a:lnSpc>
                <a:spcPct val="170000"/>
              </a:lnSpc>
              <a:buFont typeface="Wingdings" panose="05000000000000000000" pitchFamily="2" charset="2"/>
              <a:buChar char="ü"/>
            </a:pPr>
            <a:r>
              <a:rPr lang="en-US" sz="2400" dirty="0">
                <a:latin typeface="Bookman Old Style" panose="02050604050505020204" pitchFamily="18" charset="0"/>
              </a:rPr>
              <a:t>T</a:t>
            </a:r>
            <a:r>
              <a:rPr lang="en-US" sz="2400" b="0" i="0" dirty="0">
                <a:effectLst/>
                <a:latin typeface="Bookman Old Style" panose="02050604050505020204" pitchFamily="18" charset="0"/>
              </a:rPr>
              <a:t>he minimum number of agents required in Night is </a:t>
            </a:r>
            <a:r>
              <a:rPr lang="en-US" sz="2400" dirty="0">
                <a:solidFill>
                  <a:srgbClr val="FFFF00"/>
                </a:solidFill>
                <a:latin typeface="Bookman Old Style" panose="02050604050505020204" pitchFamily="18" charset="0"/>
              </a:rPr>
              <a:t>17.</a:t>
            </a:r>
            <a:endParaRPr lang="en-US" sz="2400" dirty="0">
              <a:latin typeface="Bookman Old Style" panose="02050604050505020204" pitchFamily="18" charset="0"/>
            </a:endParaRPr>
          </a:p>
          <a:p>
            <a:pPr>
              <a:lnSpc>
                <a:spcPct val="170000"/>
              </a:lnSpc>
              <a:buFont typeface="Wingdings" panose="05000000000000000000" pitchFamily="2" charset="2"/>
              <a:buChar char="ü"/>
            </a:pPr>
            <a:endParaRPr lang="en-US" sz="2400" dirty="0">
              <a:latin typeface="Bookman Old Style" panose="02050604050505020204" pitchFamily="18" charset="0"/>
            </a:endParaRPr>
          </a:p>
          <a:p>
            <a:pPr marL="0" indent="0">
              <a:lnSpc>
                <a:spcPct val="170000"/>
              </a:lnSpc>
              <a:buFont typeface="Arial" pitchFamily="34" charset="0"/>
              <a:buNone/>
            </a:pPr>
            <a:endParaRPr lang="en-US" sz="2400" dirty="0">
              <a:latin typeface="Bookman Old Style" panose="02050604050505020204" pitchFamily="18" charset="0"/>
            </a:endParaRPr>
          </a:p>
        </p:txBody>
      </p:sp>
      <p:pic>
        <p:nvPicPr>
          <p:cNvPr id="9" name="Picture 8">
            <a:extLst>
              <a:ext uri="{FF2B5EF4-FFF2-40B4-BE49-F238E27FC236}">
                <a16:creationId xmlns:a16="http://schemas.microsoft.com/office/drawing/2014/main" id="{C4CCD911-D511-C9A0-DC98-4E4E7112CAD2}"/>
              </a:ext>
            </a:extLst>
          </p:cNvPr>
          <p:cNvPicPr>
            <a:picLocks noChangeAspect="1"/>
          </p:cNvPicPr>
          <p:nvPr/>
        </p:nvPicPr>
        <p:blipFill rotWithShape="1">
          <a:blip r:embed="rId2">
            <a:extLst>
              <a:ext uri="{28A0092B-C50C-407E-A947-70E740481C1C}">
                <a14:useLocalDpi xmlns:a14="http://schemas.microsoft.com/office/drawing/2010/main" val="0"/>
              </a:ext>
            </a:extLst>
          </a:blip>
          <a:srcRect l="22747" t="72332" r="51602" b="13578"/>
          <a:stretch/>
        </p:blipFill>
        <p:spPr>
          <a:xfrm>
            <a:off x="6166420" y="116632"/>
            <a:ext cx="5635041" cy="1610345"/>
          </a:xfrm>
          <a:prstGeom prst="rect">
            <a:avLst/>
          </a:prstGeom>
        </p:spPr>
      </p:pic>
    </p:spTree>
    <p:extLst>
      <p:ext uri="{BB962C8B-B14F-4D97-AF65-F5344CB8AC3E}">
        <p14:creationId xmlns:p14="http://schemas.microsoft.com/office/powerpoint/2010/main" val="4229063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46140" y="980728"/>
            <a:ext cx="8938472" cy="2764335"/>
          </a:xfrm>
        </p:spPr>
        <p:txBody>
          <a:bodyPr>
            <a:normAutofit/>
          </a:bodyPr>
          <a:lstStyle/>
          <a:p>
            <a:r>
              <a:rPr lang="en-US" sz="7200" dirty="0">
                <a:solidFill>
                  <a:schemeClr val="accent1">
                    <a:lumMod val="60000"/>
                    <a:lumOff val="40000"/>
                  </a:schemeClr>
                </a:solidFill>
                <a:latin typeface="Aharoni" panose="02010803020104030203" pitchFamily="2" charset="-79"/>
                <a:cs typeface="Aharoni" panose="02010803020104030203" pitchFamily="2" charset="-79"/>
              </a:rPr>
              <a:t>Thank You</a:t>
            </a:r>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2.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587</TotalTime>
  <Words>648</Words>
  <Application>Microsoft Office PowerPoint</Application>
  <PresentationFormat>Custom</PresentationFormat>
  <Paragraphs>47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Aharoni</vt:lpstr>
      <vt:lpstr>Arial</vt:lpstr>
      <vt:lpstr>Bookman Old Style</vt:lpstr>
      <vt:lpstr>Calibri</vt:lpstr>
      <vt:lpstr>Wingdings</vt:lpstr>
      <vt:lpstr>Tech 16x9</vt:lpstr>
      <vt:lpstr>ABC Call Volume Trend Analysis</vt:lpstr>
      <vt:lpstr>Project Description :-</vt:lpstr>
      <vt:lpstr>Approach :-</vt:lpstr>
      <vt:lpstr>Tech-Stack Used:-</vt:lpstr>
      <vt:lpstr>Tasks: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Instagram User Analytics</dc:title>
  <dc:creator>Kanchan Soni</dc:creator>
  <cp:lastModifiedBy>Hitisha Soni</cp:lastModifiedBy>
  <cp:revision>17</cp:revision>
  <dcterms:created xsi:type="dcterms:W3CDTF">2023-10-03T18:23:19Z</dcterms:created>
  <dcterms:modified xsi:type="dcterms:W3CDTF">2023-12-26T17:56:54Z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