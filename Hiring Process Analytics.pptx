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257" r:id="rId5"/>
    <p:sldId id="268" r:id="rId6"/>
    <p:sldId id="272" r:id="rId7"/>
    <p:sldId id="273" r:id="rId8"/>
    <p:sldId id="275" r:id="rId9"/>
    <p:sldId id="274" r:id="rId10"/>
    <p:sldId id="263" r:id="rId11"/>
    <p:sldId id="278" r:id="rId12"/>
    <p:sldId id="277" r:id="rId13"/>
    <p:sldId id="279" r:id="rId14"/>
    <p:sldId id="280" r:id="rId15"/>
    <p:sldId id="281" r:id="rId16"/>
    <p:sldId id="282" r:id="rId17"/>
    <p:sldId id="285" r:id="rId18"/>
    <p:sldId id="286" r:id="rId19"/>
    <p:sldId id="269" r:id="rId20"/>
    <p:sldId id="259" r:id="rId2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66" d="100"/>
          <a:sy n="66" d="100"/>
        </p:scale>
        <p:origin x="672" y="4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rainity\Statistic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rainity\Statistic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rainity\Statistic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Hired Employees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5100000"/>
              </a:lightRig>
            </a:scene3d>
            <a:sp3d contourW="6350">
              <a:bevelT w="29210" h="12700"/>
              <a:contourClr>
                <a:scrgbClr r="0" g="0" b="0">
                  <a:satMod val="300000"/>
                </a:scrgbClr>
              </a:contourClr>
            </a:sp3d>
          </c:spPr>
          <c:invertIfNegative val="0"/>
          <c:cat>
            <c:strRef>
              <c:f>Sheet1!$I$4:$I$5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Sheet1!$J$4:$J$5</c:f>
              <c:numCache>
                <c:formatCode>General</c:formatCode>
                <c:ptCount val="2"/>
                <c:pt idx="0">
                  <c:v>2563</c:v>
                </c:pt>
                <c:pt idx="1">
                  <c:v>1856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E4-49E7-B6B1-CBB1FE0BBC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990906976"/>
        <c:axId val="1891808192"/>
      </c:barChart>
      <c:catAx>
        <c:axId val="1990906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1808192"/>
        <c:crosses val="autoZero"/>
        <c:auto val="1"/>
        <c:lblAlgn val="ctr"/>
        <c:lblOffset val="100"/>
        <c:noMultiLvlLbl val="0"/>
      </c:catAx>
      <c:valAx>
        <c:axId val="1891808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0906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[Statistics.xlsx]Sheet1!PivotTable2</c:name>
    <c:fmtId val="9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rgbClr val="92D050"/>
          </a:solidFill>
          <a:ln>
            <a:noFill/>
          </a:ln>
          <a:effectLst/>
        </c:spPr>
      </c:pivotFmt>
      <c:pivotFmt>
        <c:idx val="3"/>
        <c:spPr>
          <a:solidFill>
            <a:srgbClr val="7030A0"/>
          </a:solidFill>
          <a:ln>
            <a:noFill/>
          </a:ln>
          <a:effectLst/>
        </c:spPr>
      </c:pivotFmt>
      <c:pivotFmt>
        <c:idx val="4"/>
        <c:spPr>
          <a:solidFill>
            <a:srgbClr val="FFFF00"/>
          </a:solidFill>
          <a:ln>
            <a:noFill/>
          </a:ln>
          <a:effectLst/>
        </c:spPr>
      </c:pivotFmt>
      <c:pivotFmt>
        <c:idx val="5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rgbClr val="FF0000"/>
          </a:solidFill>
          <a:ln>
            <a:noFill/>
          </a:ln>
          <a:effectLst/>
        </c:spPr>
      </c:pivotFmt>
      <c:pivotFmt>
        <c:idx val="7"/>
        <c:spPr>
          <a:solidFill>
            <a:srgbClr val="FF66CC"/>
          </a:solidFill>
          <a:ln>
            <a:noFill/>
          </a:ln>
          <a:effectLst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</c:pivotFmt>
      <c:pivotFmt>
        <c:idx val="13"/>
        <c:spPr>
          <a:solidFill>
            <a:srgbClr val="92D050"/>
          </a:solidFill>
          <a:ln>
            <a:noFill/>
          </a:ln>
          <a:effectLst/>
        </c:spPr>
      </c:pivotFmt>
      <c:pivotFmt>
        <c:idx val="14"/>
        <c:spPr>
          <a:solidFill>
            <a:srgbClr val="7030A0"/>
          </a:solidFill>
          <a:ln>
            <a:noFill/>
          </a:ln>
          <a:effectLst/>
        </c:spP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</c:pivotFmt>
      <c:pivotFmt>
        <c:idx val="16"/>
        <c:spPr>
          <a:solidFill>
            <a:srgbClr val="FFFF00"/>
          </a:solidFill>
          <a:ln>
            <a:noFill/>
          </a:ln>
          <a:effectLst/>
        </c:spPr>
      </c:pivotFmt>
      <c:pivotFmt>
        <c:idx val="17"/>
        <c:spPr>
          <a:solidFill>
            <a:srgbClr val="FF66CC"/>
          </a:solidFill>
          <a:ln>
            <a:noFill/>
          </a:ln>
          <a:effectLst/>
        </c:spPr>
      </c:pivotFmt>
      <c:pivotFmt>
        <c:idx val="18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19"/>
        <c:spPr>
          <a:solidFill>
            <a:srgbClr val="FF0000"/>
          </a:solidFill>
          <a:ln>
            <a:noFill/>
          </a:ln>
          <a:effectLst/>
        </c:spPr>
      </c:pivotFmt>
      <c:pivotFmt>
        <c:idx val="20"/>
        <c:spPr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</c:pivotFmt>
      <c:pivotFmt>
        <c:idx val="24"/>
        <c:spPr>
          <a:solidFill>
            <a:srgbClr val="92D050"/>
          </a:solidFill>
          <a:ln>
            <a:noFill/>
          </a:ln>
          <a:effectLst/>
        </c:spPr>
      </c:pivotFmt>
      <c:pivotFmt>
        <c:idx val="25"/>
        <c:spPr>
          <a:solidFill>
            <a:srgbClr val="7030A0"/>
          </a:solidFill>
          <a:ln>
            <a:noFill/>
          </a:ln>
          <a:effectLst/>
        </c:spPr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</c:pivotFmt>
      <c:pivotFmt>
        <c:idx val="27"/>
        <c:spPr>
          <a:solidFill>
            <a:srgbClr val="FFFF00"/>
          </a:solidFill>
          <a:ln>
            <a:noFill/>
          </a:ln>
          <a:effectLst/>
        </c:spPr>
      </c:pivotFmt>
      <c:pivotFmt>
        <c:idx val="28"/>
        <c:spPr>
          <a:solidFill>
            <a:srgbClr val="FF66CC"/>
          </a:solidFill>
          <a:ln>
            <a:noFill/>
          </a:ln>
          <a:effectLst/>
        </c:spPr>
      </c:pivotFmt>
      <c:pivotFmt>
        <c:idx val="29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30"/>
        <c:spPr>
          <a:solidFill>
            <a:srgbClr val="FF0000"/>
          </a:solidFill>
          <a:ln>
            <a:noFill/>
          </a:ln>
          <a:effectLst/>
        </c:spPr>
      </c:pivotFmt>
      <c:pivotFmt>
        <c:idx val="31"/>
        <c:spPr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Sheet1!$J$38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5AF-4549-9F03-00B2A9A70646}"/>
              </c:ext>
            </c:extLst>
          </c:dPt>
          <c:dPt>
            <c:idx val="1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5AF-4549-9F03-00B2A9A70646}"/>
              </c:ext>
            </c:extLst>
          </c:dPt>
          <c:dPt>
            <c:idx val="2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5AF-4549-9F03-00B2A9A7064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5AF-4549-9F03-00B2A9A70646}"/>
              </c:ext>
            </c:extLst>
          </c:dPt>
          <c:dPt>
            <c:idx val="4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5AF-4549-9F03-00B2A9A70646}"/>
              </c:ext>
            </c:extLst>
          </c:dPt>
          <c:dPt>
            <c:idx val="5"/>
            <c:bubble3D val="0"/>
            <c:spPr>
              <a:solidFill>
                <a:srgbClr val="FF66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5AF-4549-9F03-00B2A9A70646}"/>
              </c:ext>
            </c:extLst>
          </c:dPt>
          <c:dPt>
            <c:idx val="6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B5AF-4549-9F03-00B2A9A70646}"/>
              </c:ext>
            </c:extLst>
          </c:dPt>
          <c:dPt>
            <c:idx val="7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B5AF-4549-9F03-00B2A9A70646}"/>
              </c:ext>
            </c:extLst>
          </c:dPt>
          <c:dPt>
            <c:idx val="8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B5AF-4549-9F03-00B2A9A70646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B5AF-4549-9F03-00B2A9A7064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Sheet1!$I$39:$I$49</c:f>
              <c:strCache>
                <c:ptCount val="10"/>
                <c:pt idx="0">
                  <c:v>Finance Department</c:v>
                </c:pt>
                <c:pt idx="1">
                  <c:v>General Management</c:v>
                </c:pt>
                <c:pt idx="2">
                  <c:v>Human Resource Department</c:v>
                </c:pt>
                <c:pt idx="3">
                  <c:v>Marketing Department</c:v>
                </c:pt>
                <c:pt idx="4">
                  <c:v>Operations Department</c:v>
                </c:pt>
                <c:pt idx="5">
                  <c:v>Production Department</c:v>
                </c:pt>
                <c:pt idx="6">
                  <c:v>Purchase Department</c:v>
                </c:pt>
                <c:pt idx="7">
                  <c:v>Sales Department</c:v>
                </c:pt>
                <c:pt idx="8">
                  <c:v>Service Department</c:v>
                </c:pt>
                <c:pt idx="9">
                  <c:v>(blank)</c:v>
                </c:pt>
              </c:strCache>
            </c:strRef>
          </c:cat>
          <c:val>
            <c:numRef>
              <c:f>Sheet1!$J$39:$J$49</c:f>
              <c:numCache>
                <c:formatCode>General</c:formatCode>
                <c:ptCount val="10"/>
                <c:pt idx="0">
                  <c:v>288</c:v>
                </c:pt>
                <c:pt idx="1">
                  <c:v>172</c:v>
                </c:pt>
                <c:pt idx="2">
                  <c:v>97</c:v>
                </c:pt>
                <c:pt idx="3">
                  <c:v>325</c:v>
                </c:pt>
                <c:pt idx="4">
                  <c:v>2771</c:v>
                </c:pt>
                <c:pt idx="5">
                  <c:v>380</c:v>
                </c:pt>
                <c:pt idx="6">
                  <c:v>333</c:v>
                </c:pt>
                <c:pt idx="7">
                  <c:v>747</c:v>
                </c:pt>
                <c:pt idx="8">
                  <c:v>2055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5AF-4549-9F03-00B2A9A706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3990471522606418"/>
          <c:y val="0.11823179970048411"/>
          <c:w val="0.33099475021773844"/>
          <c:h val="0.8588797767607425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[Statistics.xlsx]Sheet1!PivotTable5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Position Tier</a:t>
            </a:r>
          </a:p>
        </c:rich>
      </c:tx>
      <c:layout>
        <c:manualLayout>
          <c:xMode val="edge"/>
          <c:yMode val="edge"/>
          <c:x val="0.45239708866074768"/>
          <c:y val="9.40636225604562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6304467010380833"/>
          <c:y val="0.17743997999189751"/>
          <c:w val="0.63784590104868955"/>
          <c:h val="0.7626590434092784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Sheet1!$J$77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Sheet1!$I$78:$I$95</c:f>
              <c:strCache>
                <c:ptCount val="17"/>
                <c:pt idx="0">
                  <c:v>-</c:v>
                </c:pt>
                <c:pt idx="1">
                  <c:v>b9</c:v>
                </c:pt>
                <c:pt idx="2">
                  <c:v>c-10</c:v>
                </c:pt>
                <c:pt idx="3">
                  <c:v>c5</c:v>
                </c:pt>
                <c:pt idx="4">
                  <c:v>c8</c:v>
                </c:pt>
                <c:pt idx="5">
                  <c:v>c9</c:v>
                </c:pt>
                <c:pt idx="6">
                  <c:v>i1</c:v>
                </c:pt>
                <c:pt idx="7">
                  <c:v>i4</c:v>
                </c:pt>
                <c:pt idx="8">
                  <c:v>i5</c:v>
                </c:pt>
                <c:pt idx="9">
                  <c:v>i6</c:v>
                </c:pt>
                <c:pt idx="10">
                  <c:v>i7</c:v>
                </c:pt>
                <c:pt idx="11">
                  <c:v>m6</c:v>
                </c:pt>
                <c:pt idx="12">
                  <c:v>m7</c:v>
                </c:pt>
                <c:pt idx="13">
                  <c:v>n10</c:v>
                </c:pt>
                <c:pt idx="14">
                  <c:v>n6</c:v>
                </c:pt>
                <c:pt idx="15">
                  <c:v>n9</c:v>
                </c:pt>
                <c:pt idx="16">
                  <c:v>(blank)</c:v>
                </c:pt>
              </c:strCache>
            </c:strRef>
          </c:cat>
          <c:val>
            <c:numRef>
              <c:f>Sheet1!$J$78:$J$95</c:f>
              <c:numCache>
                <c:formatCode>General</c:formatCode>
                <c:ptCount val="17"/>
                <c:pt idx="0">
                  <c:v>1</c:v>
                </c:pt>
                <c:pt idx="1">
                  <c:v>463</c:v>
                </c:pt>
                <c:pt idx="2">
                  <c:v>232</c:v>
                </c:pt>
                <c:pt idx="3">
                  <c:v>1747</c:v>
                </c:pt>
                <c:pt idx="4">
                  <c:v>320</c:v>
                </c:pt>
                <c:pt idx="5">
                  <c:v>1792</c:v>
                </c:pt>
                <c:pt idx="6">
                  <c:v>222</c:v>
                </c:pt>
                <c:pt idx="7">
                  <c:v>88</c:v>
                </c:pt>
                <c:pt idx="8">
                  <c:v>787</c:v>
                </c:pt>
                <c:pt idx="9">
                  <c:v>527</c:v>
                </c:pt>
                <c:pt idx="10">
                  <c:v>982</c:v>
                </c:pt>
                <c:pt idx="11">
                  <c:v>3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07-4371-8FB5-B8D81EBCDD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18573440"/>
        <c:axId val="318368192"/>
      </c:barChart>
      <c:catAx>
        <c:axId val="318573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8368192"/>
        <c:crosses val="autoZero"/>
        <c:auto val="1"/>
        <c:lblAlgn val="ctr"/>
        <c:lblOffset val="100"/>
        <c:noMultiLvlLbl val="0"/>
      </c:catAx>
      <c:valAx>
        <c:axId val="318368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8573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10/30/2023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10/30/2023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10/30/2023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10/30/2023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10/30/2023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10/30/2023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10/30/2023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10/30/2023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10/30/2023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10/30/2023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10/30/2023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10/30/2023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10/30/2023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10/30/2023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Z3ZNEUlJ88R8TJStrmMVjkZujeIxBN05/edit?usp=sharing&amp;ouid=106590391011635670285&amp;rtpof=true&amp;sd=true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6749" y="1844824"/>
            <a:ext cx="9840271" cy="1243683"/>
          </a:xfrm>
        </p:spPr>
        <p:txBody>
          <a:bodyPr>
            <a:normAutofit/>
          </a:bodyPr>
          <a:lstStyle/>
          <a:p>
            <a:pPr algn="l"/>
            <a:r>
              <a:rPr lang="en-US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Bookman Old Style" panose="02050604050505020204" pitchFamily="18" charset="0"/>
              </a:rPr>
              <a:t>Hiring Process Analytics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726260" y="3284984"/>
            <a:ext cx="8735325" cy="101831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(Project – 4)</a:t>
            </a:r>
          </a:p>
          <a:p>
            <a:r>
              <a:rPr lang="en-US" sz="2400" dirty="0"/>
              <a:t>				</a:t>
            </a:r>
          </a:p>
          <a:p>
            <a:endParaRPr lang="en-US" sz="2400" dirty="0"/>
          </a:p>
          <a:p>
            <a:r>
              <a:rPr lang="en-US" sz="2400" dirty="0"/>
              <a:t>			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5F3B90-60EA-7420-D66C-4558E21E593A}"/>
              </a:ext>
            </a:extLst>
          </p:cNvPr>
          <p:cNvSpPr txBox="1"/>
          <p:nvPr/>
        </p:nvSpPr>
        <p:spPr>
          <a:xfrm>
            <a:off x="27041" y="5445224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BY HITISHA SONI</a:t>
            </a:r>
            <a:endParaRPr lang="en-IN" sz="2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13792" y="44624"/>
            <a:ext cx="10360501" cy="94992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Project Description :-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25860" y="994544"/>
            <a:ext cx="10729192" cy="5602808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2000" b="0" i="0" dirty="0">
                <a:solidFill>
                  <a:srgbClr val="8492A6"/>
                </a:solidFill>
                <a:effectLst/>
                <a:latin typeface="Bookman Old Style" panose="02050604050505020204" pitchFamily="18" charset="0"/>
              </a:rPr>
              <a:t>Our task is to analyze the company's hiring process data and draw meaningful insights from it.</a:t>
            </a:r>
          </a:p>
          <a:p>
            <a:pPr>
              <a:lnSpc>
                <a:spcPct val="170000"/>
              </a:lnSpc>
            </a:pPr>
            <a:r>
              <a:rPr lang="en-US" sz="2000" b="0" i="0" dirty="0">
                <a:solidFill>
                  <a:srgbClr val="8492A6"/>
                </a:solidFill>
                <a:effectLst/>
                <a:latin typeface="Bookman Old Style" panose="02050604050505020204" pitchFamily="18" charset="0"/>
              </a:rPr>
              <a:t>The hiring process is a crucial function of any company, and understanding trends such as the number of rejections, interviews, job types, and vacancies can provide valuable insights for the hiring department.</a:t>
            </a:r>
          </a:p>
          <a:p>
            <a:pPr>
              <a:lnSpc>
                <a:spcPct val="170000"/>
              </a:lnSpc>
            </a:pPr>
            <a:r>
              <a:rPr lang="en-US" sz="2000" b="0" i="0" dirty="0">
                <a:solidFill>
                  <a:srgbClr val="8492A6"/>
                </a:solidFill>
                <a:effectLst/>
                <a:latin typeface="Bookman Old Style" panose="02050604050505020204" pitchFamily="18" charset="0"/>
              </a:rPr>
              <a:t>As a data analyst, you'll be given a dataset containing records of previous hires.</a:t>
            </a:r>
          </a:p>
          <a:p>
            <a:pPr>
              <a:lnSpc>
                <a:spcPct val="170000"/>
              </a:lnSpc>
            </a:pPr>
            <a:r>
              <a:rPr lang="en-US" sz="2000" b="0" i="0" dirty="0">
                <a:solidFill>
                  <a:srgbClr val="8492A6"/>
                </a:solidFill>
                <a:effectLst/>
                <a:latin typeface="Bookman Old Style" panose="02050604050505020204" pitchFamily="18" charset="0"/>
              </a:rPr>
              <a:t> Your job is to analyze this data and answer certain questions that can help the company improve its hiring process.</a:t>
            </a:r>
            <a:endParaRPr lang="en-US" sz="3200" b="0" i="0" dirty="0"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341884" y="38327"/>
            <a:ext cx="10360501" cy="94992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Approach :-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341884" y="1124744"/>
            <a:ext cx="9217024" cy="5616624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2400" b="0" i="0" dirty="0">
                <a:effectLst/>
                <a:latin typeface="Bookman Old Style" panose="02050604050505020204" pitchFamily="18" charset="0"/>
              </a:rPr>
              <a:t>In this project, as </a:t>
            </a:r>
            <a:r>
              <a:rPr lang="en-US" sz="2400" dirty="0">
                <a:latin typeface="Bookman Old Style" panose="02050604050505020204" pitchFamily="18" charset="0"/>
              </a:rPr>
              <a:t>we are working as </a:t>
            </a:r>
            <a:r>
              <a:rPr lang="en-US" sz="2400" b="0" i="0" dirty="0">
                <a:effectLst/>
                <a:latin typeface="Bookman Old Style" panose="02050604050505020204" pitchFamily="18" charset="0"/>
              </a:rPr>
              <a:t>a data analyst at a multinational company like Google.</a:t>
            </a:r>
          </a:p>
          <a:p>
            <a:pPr>
              <a:lnSpc>
                <a:spcPct val="170000"/>
              </a:lnSpc>
            </a:pPr>
            <a:r>
              <a:rPr lang="en-US" sz="2400" b="0" i="0" dirty="0">
                <a:effectLst/>
                <a:latin typeface="Bookman Old Style" panose="02050604050505020204" pitchFamily="18" charset="0"/>
              </a:rPr>
              <a:t>We have given a dataset of a company.</a:t>
            </a:r>
            <a:endParaRPr lang="en-US" sz="2400" dirty="0">
              <a:latin typeface="Bookman Old Style" panose="020506040505050202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I have used some important concepts of Microsoft excels in this project such as, Pivot table, Pivot Charts, Functions, etc.</a:t>
            </a:r>
          </a:p>
        </p:txBody>
      </p:sp>
    </p:spTree>
    <p:extLst>
      <p:ext uri="{BB962C8B-B14F-4D97-AF65-F5344CB8AC3E}">
        <p14:creationId xmlns:p14="http://schemas.microsoft.com/office/powerpoint/2010/main" val="2072730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91157" y="260648"/>
            <a:ext cx="10360501" cy="949920"/>
          </a:xfrm>
        </p:spPr>
        <p:txBody>
          <a:bodyPr/>
          <a:lstStyle/>
          <a:p>
            <a:r>
              <a:rPr lang="en-IN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Bookman Old Style" panose="02050604050505020204" pitchFamily="18" charset="0"/>
              </a:rPr>
              <a:t>Tech-Stack Used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:-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7EAD79-F77A-58D5-602C-51192FA757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004" y="1340768"/>
            <a:ext cx="8928992" cy="5347764"/>
          </a:xfrm>
        </p:spPr>
      </p:pic>
    </p:spTree>
    <p:extLst>
      <p:ext uri="{BB962C8B-B14F-4D97-AF65-F5344CB8AC3E}">
        <p14:creationId xmlns:p14="http://schemas.microsoft.com/office/powerpoint/2010/main" val="259892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9996" y="836712"/>
            <a:ext cx="6935125" cy="1243683"/>
          </a:xfrm>
        </p:spPr>
        <p:txBody>
          <a:bodyPr>
            <a:normAutofit/>
          </a:bodyPr>
          <a:lstStyle/>
          <a:p>
            <a:pPr algn="ctr"/>
            <a:r>
              <a:rPr lang="en-IN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Bookman Old Style" panose="02050604050505020204" pitchFamily="18" charset="0"/>
              </a:rPr>
              <a:t>Tasks: </a:t>
            </a:r>
          </a:p>
        </p:txBody>
      </p:sp>
      <p:sp>
        <p:nvSpPr>
          <p:cNvPr id="3" name="TextBox 2">
            <a:hlinkClick r:id="rId2"/>
            <a:extLst>
              <a:ext uri="{FF2B5EF4-FFF2-40B4-BE49-F238E27FC236}">
                <a16:creationId xmlns:a16="http://schemas.microsoft.com/office/drawing/2014/main" id="{B01E6522-17B9-BEB8-37A5-E332393621EB}"/>
              </a:ext>
            </a:extLst>
          </p:cNvPr>
          <p:cNvSpPr txBox="1"/>
          <p:nvPr/>
        </p:nvSpPr>
        <p:spPr>
          <a:xfrm>
            <a:off x="3862164" y="3429000"/>
            <a:ext cx="4464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FF0000"/>
                </a:highlight>
              </a:rPr>
              <a:t>Link to excel file</a:t>
            </a:r>
            <a:endParaRPr lang="en-IN" sz="4800" b="1" dirty="0">
              <a:solidFill>
                <a:schemeClr val="accent1">
                  <a:lumMod val="60000"/>
                  <a:lumOff val="40000"/>
                </a:schemeClr>
              </a:solidFill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9485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053852" y="1628800"/>
            <a:ext cx="10657184" cy="4104456"/>
          </a:xfrm>
        </p:spPr>
        <p:txBody>
          <a:bodyPr>
            <a:normAutofit/>
          </a:bodyPr>
          <a:lstStyle/>
          <a:p>
            <a:pPr algn="l"/>
            <a:r>
              <a:rPr lang="en-US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1. Hiring Analysis:</a:t>
            </a:r>
            <a:r>
              <a:rPr lang="en-US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 </a:t>
            </a:r>
            <a:r>
              <a:rPr lang="en-US" b="0" i="0" dirty="0">
                <a:effectLst/>
              </a:rPr>
              <a:t>The hiring process involves bringing new individuals into the organization for various roles.</a:t>
            </a:r>
          </a:p>
          <a:p>
            <a:pPr algn="l"/>
            <a:endParaRPr lang="en-US" dirty="0"/>
          </a:p>
          <a:p>
            <a:pPr algn="l"/>
            <a:r>
              <a:rPr lang="en-US" b="1" i="0" dirty="0">
                <a:effectLst/>
              </a:rPr>
              <a:t>Your Task:</a:t>
            </a:r>
            <a:r>
              <a:rPr lang="en-US" b="0" i="0" dirty="0">
                <a:effectLst/>
              </a:rPr>
              <a:t> Determine the gender distribution of hires. How many males and females have been hired by the company?</a:t>
            </a:r>
          </a:p>
        </p:txBody>
      </p:sp>
    </p:spTree>
    <p:extLst>
      <p:ext uri="{BB962C8B-B14F-4D97-AF65-F5344CB8AC3E}">
        <p14:creationId xmlns:p14="http://schemas.microsoft.com/office/powerpoint/2010/main" val="221254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412B05E-C5F2-F535-BCE0-04EA54C4E2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7837427"/>
              </p:ext>
            </p:extLst>
          </p:nvPr>
        </p:nvGraphicFramePr>
        <p:xfrm>
          <a:off x="4582244" y="2564904"/>
          <a:ext cx="7082989" cy="4017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07770B2-42E4-8078-882C-F7028F5B65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75" t="34246" r="37594" b="53151"/>
          <a:stretch/>
        </p:blipFill>
        <p:spPr>
          <a:xfrm>
            <a:off x="1341884" y="404664"/>
            <a:ext cx="5760636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981844" y="1916832"/>
            <a:ext cx="10657184" cy="288032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</a:t>
            </a:r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 </a:t>
            </a:r>
            <a:r>
              <a:rPr lang="en-US" b="1" i="0" dirty="0">
                <a:solidFill>
                  <a:srgbClr val="8492A6"/>
                </a:solidFill>
                <a:effectLst/>
                <a:latin typeface="Manrope"/>
              </a:rPr>
              <a:t> </a:t>
            </a:r>
            <a:r>
              <a:rPr lang="en-US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Salary Analysis:</a:t>
            </a:r>
            <a:r>
              <a:rPr lang="en-US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 </a:t>
            </a:r>
            <a:r>
              <a:rPr lang="en-US" b="0" i="0" dirty="0">
                <a:effectLst/>
              </a:rPr>
              <a:t>The average salary is calculated by adding up the salaries of a group of employees and then dividing the total by the number of employees.</a:t>
            </a:r>
          </a:p>
          <a:p>
            <a:pPr marL="0" indent="0" algn="l">
              <a:buNone/>
            </a:pPr>
            <a:endParaRPr lang="en-US" b="0" i="0" dirty="0">
              <a:effectLst/>
            </a:endParaRPr>
          </a:p>
          <a:p>
            <a:pPr algn="l"/>
            <a:r>
              <a:rPr lang="en-US" b="1" i="0" dirty="0">
                <a:effectLst/>
              </a:rPr>
              <a:t>Your Task:</a:t>
            </a:r>
            <a:r>
              <a:rPr lang="en-US" b="0" i="0" dirty="0">
                <a:effectLst/>
              </a:rPr>
              <a:t> What is the average salary offered by this company? Use Excel functions to calculate this.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b="0" i="0" dirty="0">
              <a:solidFill>
                <a:srgbClr val="8492A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6700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3C4460-8E88-2A00-B490-42C5B6163C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94" t="45799" r="39366" b="41598"/>
          <a:stretch/>
        </p:blipFill>
        <p:spPr>
          <a:xfrm>
            <a:off x="2998068" y="2060848"/>
            <a:ext cx="7488826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70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053852" y="1772816"/>
            <a:ext cx="10657184" cy="3096344"/>
          </a:xfrm>
        </p:spPr>
        <p:txBody>
          <a:bodyPr>
            <a:normAutofit/>
          </a:bodyPr>
          <a:lstStyle/>
          <a:p>
            <a:pPr algn="l"/>
            <a:r>
              <a:rPr lang="en-US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3. </a:t>
            </a:r>
            <a:r>
              <a:rPr lang="en-US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Manrope"/>
              </a:rPr>
              <a:t>Salary Distribution:</a:t>
            </a:r>
            <a:r>
              <a:rPr lang="en-US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Manrope"/>
              </a:rPr>
              <a:t> </a:t>
            </a:r>
            <a:r>
              <a:rPr lang="en-US" b="0" i="0" dirty="0">
                <a:effectLst/>
                <a:latin typeface="Manrope"/>
              </a:rPr>
              <a:t>Class intervals represent ranges of values, in this case, salary ranges. The class interval is the difference between the upper and lower limits of a class.</a:t>
            </a:r>
          </a:p>
          <a:p>
            <a:pPr marL="0" indent="0" algn="l">
              <a:buNone/>
            </a:pPr>
            <a:endParaRPr lang="en-US" b="0" i="0" dirty="0">
              <a:effectLst/>
              <a:latin typeface="Manrope"/>
            </a:endParaRPr>
          </a:p>
          <a:p>
            <a:pPr algn="l"/>
            <a:r>
              <a:rPr lang="en-US" b="1" i="0" dirty="0">
                <a:effectLst/>
                <a:latin typeface="Manrope"/>
              </a:rPr>
              <a:t>Your Task:</a:t>
            </a:r>
            <a:r>
              <a:rPr lang="en-US" b="0" i="0" dirty="0">
                <a:effectLst/>
                <a:latin typeface="Manrope"/>
              </a:rPr>
              <a:t> Create class intervals for the salaries in the company. This will help you understand the salary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86259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1E1A3A-4FDC-76B7-D1A8-23EFD6C36C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83" t="37397" r="22234" b="25844"/>
          <a:stretch/>
        </p:blipFill>
        <p:spPr>
          <a:xfrm>
            <a:off x="2998068" y="1628800"/>
            <a:ext cx="7344816" cy="459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69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053852" y="1844824"/>
            <a:ext cx="10657184" cy="2736304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4. Departmental Analysis:</a:t>
            </a:r>
            <a:r>
              <a:rPr lang="en-US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 </a:t>
            </a:r>
            <a:r>
              <a:rPr lang="en-US" b="0" i="0" dirty="0">
                <a:effectLst/>
              </a:rPr>
              <a:t>Visualizing data through charts and plots is a crucial part of data analysis.</a:t>
            </a:r>
          </a:p>
          <a:p>
            <a:pPr marL="0" indent="0" algn="l">
              <a:buNone/>
            </a:pPr>
            <a:endParaRPr lang="en-US" b="0" i="0" dirty="0">
              <a:effectLst/>
            </a:endParaRPr>
          </a:p>
          <a:p>
            <a:pPr algn="l"/>
            <a:r>
              <a:rPr lang="en-US" b="1" i="0" dirty="0">
                <a:effectLst/>
              </a:rPr>
              <a:t>Your Task:</a:t>
            </a:r>
            <a:r>
              <a:rPr lang="en-US" b="0" i="0" dirty="0">
                <a:effectLst/>
              </a:rPr>
              <a:t> Use a pie chart, bar graph, or any other suitable visualization to show the proportion of people working in different departments.</a:t>
            </a:r>
          </a:p>
          <a:p>
            <a:pPr marL="0" indent="0" algn="l">
              <a:buNone/>
            </a:pPr>
            <a:endParaRPr lang="en-US" sz="2400" b="0" i="0" dirty="0">
              <a:solidFill>
                <a:srgbClr val="8492A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0716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C17B05B-58BA-C0F3-370B-E3D6CD1739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6958785"/>
              </p:ext>
            </p:extLst>
          </p:nvPr>
        </p:nvGraphicFramePr>
        <p:xfrm>
          <a:off x="3718148" y="1287426"/>
          <a:ext cx="8784976" cy="5589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CE614EC2-8F59-4758-76DE-35BF3D7A2C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46" t="46850" r="26960" b="14291"/>
          <a:stretch/>
        </p:blipFill>
        <p:spPr>
          <a:xfrm>
            <a:off x="981844" y="188640"/>
            <a:ext cx="4032448" cy="339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008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25860" y="1484784"/>
            <a:ext cx="10657184" cy="3384376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. Position Tier Analysis:</a:t>
            </a:r>
            <a:r>
              <a:rPr lang="en-US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 </a:t>
            </a:r>
            <a:r>
              <a:rPr lang="en-US" b="0" i="0" dirty="0">
                <a:effectLst/>
              </a:rPr>
              <a:t>Different positions within a company often have different tiers or levels.</a:t>
            </a:r>
          </a:p>
          <a:p>
            <a:pPr marL="0" indent="0" algn="l">
              <a:buNone/>
            </a:pPr>
            <a:endParaRPr lang="en-US" b="0" i="0" dirty="0">
              <a:effectLst/>
            </a:endParaRPr>
          </a:p>
          <a:p>
            <a:pPr algn="l"/>
            <a:r>
              <a:rPr lang="en-US" b="1" i="0" dirty="0">
                <a:effectLst/>
              </a:rPr>
              <a:t>Your Task:</a:t>
            </a:r>
            <a:r>
              <a:rPr lang="en-US" b="0" i="0" dirty="0">
                <a:effectLst/>
              </a:rPr>
              <a:t> Use a chart or graph to represent the different position tiers within the company. This will help you understand the distribution of positions across different tiers.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solidFill>
                <a:srgbClr val="8492A6"/>
              </a:solidFill>
            </a:endParaRPr>
          </a:p>
          <a:p>
            <a:pPr>
              <a:lnSpc>
                <a:spcPct val="100000"/>
              </a:lnSpc>
            </a:pPr>
            <a:endParaRPr lang="en-US" sz="2400" dirty="0">
              <a:solidFill>
                <a:srgbClr val="8492A6"/>
              </a:solidFill>
            </a:endParaRPr>
          </a:p>
          <a:p>
            <a:pPr>
              <a:lnSpc>
                <a:spcPct val="100000"/>
              </a:lnSpc>
            </a:pPr>
            <a:endParaRPr lang="en-US" sz="2400" dirty="0">
              <a:solidFill>
                <a:srgbClr val="8492A6"/>
              </a:solidFill>
            </a:endParaRPr>
          </a:p>
          <a:p>
            <a:pPr>
              <a:lnSpc>
                <a:spcPct val="100000"/>
              </a:lnSpc>
            </a:pPr>
            <a:endParaRPr lang="en-US" sz="2400" dirty="0">
              <a:solidFill>
                <a:srgbClr val="8492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117C86E-C26E-2ACF-7FE8-4F30EF5C16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5342209"/>
              </p:ext>
            </p:extLst>
          </p:nvPr>
        </p:nvGraphicFramePr>
        <p:xfrm>
          <a:off x="3430116" y="-99392"/>
          <a:ext cx="8758709" cy="6696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B7ABB2F-5FBF-3B7F-0BB1-6D79A8DD0D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80" t="33196" r="19871" b="16392"/>
          <a:stretch/>
        </p:blipFill>
        <p:spPr>
          <a:xfrm>
            <a:off x="1053852" y="1628800"/>
            <a:ext cx="3477386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16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2">
            <a:extLst>
              <a:ext uri="{FF2B5EF4-FFF2-40B4-BE49-F238E27FC236}">
                <a16:creationId xmlns:a16="http://schemas.microsoft.com/office/drawing/2014/main" id="{E4E7BCA3-1FD4-5523-5581-CA8D239DC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157" y="260648"/>
            <a:ext cx="10360501" cy="949920"/>
          </a:xfrm>
        </p:spPr>
        <p:txBody>
          <a:bodyPr/>
          <a:lstStyle/>
          <a:p>
            <a:r>
              <a:rPr lang="en-IN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Bookman Old Style" panose="02050604050505020204" pitchFamily="18" charset="0"/>
              </a:rPr>
              <a:t>Insights &amp; Results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:-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E1B7686-5D22-3E72-C6B0-D4AF4FEC3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9051993" cy="4465320"/>
          </a:xfrm>
        </p:spPr>
        <p:txBody>
          <a:bodyPr>
            <a:normAutofit/>
          </a:bodyPr>
          <a:lstStyle/>
          <a:p>
            <a:r>
              <a:rPr lang="en-US" dirty="0"/>
              <a:t>Total no. of hired males are 2563 and females are 1865.</a:t>
            </a:r>
          </a:p>
          <a:p>
            <a:r>
              <a:rPr lang="en-US" dirty="0"/>
              <a:t>Average salary is </a:t>
            </a:r>
            <a:r>
              <a:rPr lang="en-IN" b="0" i="0" u="none" strike="noStrike" dirty="0">
                <a:effectLst/>
              </a:rPr>
              <a:t>₹49983.03</a:t>
            </a:r>
            <a:r>
              <a:rPr lang="en-US" dirty="0"/>
              <a:t>.</a:t>
            </a:r>
          </a:p>
          <a:p>
            <a:r>
              <a:rPr lang="en-US" dirty="0"/>
              <a:t>Only 3 Employees has salary more than Rs. 2,00,000.</a:t>
            </a:r>
          </a:p>
          <a:p>
            <a:r>
              <a:rPr lang="en-US" dirty="0"/>
              <a:t>Operations Department have maximum employees.</a:t>
            </a:r>
          </a:p>
          <a:p>
            <a:r>
              <a:rPr lang="en-US" dirty="0"/>
              <a:t>Human Resource Department have minimum employees.</a:t>
            </a:r>
          </a:p>
          <a:p>
            <a:r>
              <a:rPr lang="en-US" dirty="0"/>
              <a:t>C9 has most employees.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646140" y="980728"/>
            <a:ext cx="8938472" cy="2764335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254</TotalTime>
  <Words>482</Words>
  <Application>Microsoft Office PowerPoint</Application>
  <PresentationFormat>Custom</PresentationFormat>
  <Paragraphs>46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Aharoni</vt:lpstr>
      <vt:lpstr>Arial</vt:lpstr>
      <vt:lpstr>Bookman Old Style</vt:lpstr>
      <vt:lpstr>Calibri</vt:lpstr>
      <vt:lpstr>Manrope</vt:lpstr>
      <vt:lpstr>Tech 16x9</vt:lpstr>
      <vt:lpstr>Hiring Process Analytics</vt:lpstr>
      <vt:lpstr>Project Description :-</vt:lpstr>
      <vt:lpstr>Approach :-</vt:lpstr>
      <vt:lpstr>Tech-Stack Used:-</vt:lpstr>
      <vt:lpstr>Tasks: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Insights &amp; Results :-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 User Analytics</dc:title>
  <dc:creator>Kanchan Soni</dc:creator>
  <cp:lastModifiedBy>Hitisha Soni</cp:lastModifiedBy>
  <cp:revision>4</cp:revision>
  <dcterms:created xsi:type="dcterms:W3CDTF">2023-10-03T18:23:19Z</dcterms:created>
  <dcterms:modified xsi:type="dcterms:W3CDTF">2023-10-30T18:18:17Z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